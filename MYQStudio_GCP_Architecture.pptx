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notesMasterIdLst>
    <p:notesMasterId r:id="rId11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notesMaster" Target="notesMasters/notesMaster1.xml"/><Relationship Id="rId12" Type="http://schemas.openxmlformats.org/officeDocument/2006/relationships/presProps" Target="presProps.xml"/><Relationship Id="rId13" Type="http://schemas.openxmlformats.org/officeDocument/2006/relationships/viewProps" Target="viewProps.xml"/><Relationship Id="rId14" Type="http://schemas.openxmlformats.org/officeDocument/2006/relationships/theme" Target="theme/theme1.xml"/><Relationship Id="rId1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D11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64008" cy="5143500"/>
          </a:xfrm>
          <a:prstGeom prst="rect">
            <a:avLst/>
          </a:prstGeom>
          <a:solidFill>
            <a:srgbClr val="1A73E8"/>
          </a:solidFill>
          <a:ln/>
        </p:spPr>
      </p:sp>
      <p:sp>
        <p:nvSpPr>
          <p:cNvPr id="3" name="Shape 1"/>
          <p:cNvSpPr/>
          <p:nvPr/>
        </p:nvSpPr>
        <p:spPr>
          <a:xfrm>
            <a:off x="7132320" y="274320"/>
            <a:ext cx="1737360" cy="384048"/>
          </a:xfrm>
          <a:prstGeom prst="rect">
            <a:avLst/>
          </a:prstGeom>
          <a:solidFill>
            <a:srgbClr val="1A73E8">
              <a:alpha val="20000"/>
            </a:srgbClr>
          </a:solidFill>
          <a:ln w="12700">
            <a:solidFill>
              <a:srgbClr val="1A73E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7150608" y="274320"/>
            <a:ext cx="170078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A73E8"/>
                </a:solidFill>
              </a:rPr>
              <a:t>Google Cloud Platform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457200" y="822960"/>
            <a:ext cx="82296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MYQStudio</a:t>
            </a:r>
            <a:endParaRPr lang="en-US" sz="5200" dirty="0"/>
          </a:p>
        </p:txBody>
      </p:sp>
      <p:sp>
        <p:nvSpPr>
          <p:cNvPr id="6" name="Text 4"/>
          <p:cNvSpPr/>
          <p:nvPr/>
        </p:nvSpPr>
        <p:spPr>
          <a:xfrm>
            <a:off x="457200" y="1600200"/>
            <a:ext cx="82296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1A73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Recommendation Engine</a:t>
            </a:r>
            <a:endParaRPr lang="en-US" sz="3000" dirty="0"/>
          </a:p>
        </p:txBody>
      </p:sp>
      <p:sp>
        <p:nvSpPr>
          <p:cNvPr id="7" name="Text 5"/>
          <p:cNvSpPr/>
          <p:nvPr/>
        </p:nvSpPr>
        <p:spPr>
          <a:xfrm>
            <a:off x="457200" y="214884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GCP Deployment Architecture</a:t>
            </a:r>
            <a:endParaRPr lang="en-US" sz="2200" dirty="0"/>
          </a:p>
        </p:txBody>
      </p:sp>
      <p:sp>
        <p:nvSpPr>
          <p:cNvPr id="8" name="Shape 6"/>
          <p:cNvSpPr/>
          <p:nvPr/>
        </p:nvSpPr>
        <p:spPr>
          <a:xfrm>
            <a:off x="457200" y="2743200"/>
            <a:ext cx="8229600" cy="0"/>
          </a:xfrm>
          <a:prstGeom prst="line">
            <a:avLst/>
          </a:prstGeom>
          <a:noFill/>
          <a:ln w="12700">
            <a:solidFill>
              <a:srgbClr val="30363D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457200" y="2926080"/>
            <a:ext cx="2560320" cy="347472"/>
          </a:xfrm>
          <a:prstGeom prst="rect">
            <a:avLst/>
          </a:prstGeom>
          <a:solidFill>
            <a:srgbClr val="1A73E8">
              <a:alpha val="15000"/>
            </a:srgbClr>
          </a:solidFill>
          <a:ln w="12700">
            <a:solidFill>
              <a:srgbClr val="1A73E8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57200" y="2926080"/>
            <a:ext cx="25603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A73E8"/>
                </a:solidFill>
              </a:rPr>
              <a:t>Early Stage Concept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3291840" y="2926080"/>
            <a:ext cx="2560320" cy="347472"/>
          </a:xfrm>
          <a:prstGeom prst="rect">
            <a:avLst/>
          </a:prstGeom>
          <a:solidFill>
            <a:srgbClr val="0F9D58">
              <a:alpha val="15000"/>
            </a:srgbClr>
          </a:solidFill>
          <a:ln w="12700">
            <a:solidFill>
              <a:srgbClr val="0F9D58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291840" y="2926080"/>
            <a:ext cx="25603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F9D58"/>
                </a:solidFill>
              </a:rPr>
              <a:t>Cost-Conscious Design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6126480" y="2926080"/>
            <a:ext cx="2560320" cy="347472"/>
          </a:xfrm>
          <a:prstGeom prst="rect">
            <a:avLst/>
          </a:prstGeom>
          <a:solidFill>
            <a:srgbClr val="7C3AED">
              <a:alpha val="15000"/>
            </a:srgbClr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126480" y="2926080"/>
            <a:ext cx="25603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7C3AED"/>
                </a:solidFill>
              </a:rPr>
              <a:t>Serverless Architecture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457200" y="466344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Prepared by Adarsh  |  Human Mind Skills Content Platform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6F8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40080"/>
          </a:xfrm>
          <a:prstGeom prst="rect">
            <a:avLst/>
          </a:prstGeom>
          <a:solidFill>
            <a:srgbClr val="1A73E8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0"/>
            <a:ext cx="8412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FFFFFF"/>
                </a:solidFill>
              </a:rPr>
              <a:t>SYSTEM OVERVIEW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365760" y="0"/>
            <a:ext cx="8412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C8D8FF"/>
                </a:solidFill>
              </a:rPr>
              <a:t>7 Components · 1 Platform · Designed for scale-to-zero cost control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228600" y="822960"/>
            <a:ext cx="2029968" cy="1645920"/>
          </a:xfrm>
          <a:prstGeom prst="rect">
            <a:avLst/>
          </a:prstGeom>
          <a:solidFill>
            <a:srgbClr val="FFFFFF"/>
          </a:solidFill>
          <a:ln w="25400">
            <a:solidFill>
              <a:srgbClr val="1A73E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8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228600" y="822960"/>
            <a:ext cx="2029968" cy="73152"/>
          </a:xfrm>
          <a:prstGeom prst="rect">
            <a:avLst/>
          </a:prstGeom>
          <a:solidFill>
            <a:srgbClr val="1A73E8"/>
          </a:solidFill>
          <a:ln/>
        </p:spPr>
      </p:sp>
      <p:sp>
        <p:nvSpPr>
          <p:cNvPr id="7" name="Text 5"/>
          <p:cNvSpPr/>
          <p:nvPr/>
        </p:nvSpPr>
        <p:spPr>
          <a:xfrm>
            <a:off x="228600" y="960120"/>
            <a:ext cx="2029968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rgbClr val="000000"/>
                </a:solidFill>
              </a:rPr>
              <a:t>📱</a:t>
            </a:r>
            <a:endParaRPr lang="en-US" sz="2800" dirty="0"/>
          </a:p>
        </p:txBody>
      </p:sp>
      <p:sp>
        <p:nvSpPr>
          <p:cNvPr id="8" name="Text 6"/>
          <p:cNvSpPr/>
          <p:nvPr/>
        </p:nvSpPr>
        <p:spPr>
          <a:xfrm>
            <a:off x="320040" y="1481328"/>
            <a:ext cx="184708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MYQStudio App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301752" y="1865376"/>
            <a:ext cx="1883664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A73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Firebase Hosting</a:t>
            </a:r>
            <a:endParaRPr lang="en-US" sz="950" dirty="0"/>
          </a:p>
        </p:txBody>
      </p:sp>
      <p:sp>
        <p:nvSpPr>
          <p:cNvPr id="10" name="Shape 8"/>
          <p:cNvSpPr/>
          <p:nvPr/>
        </p:nvSpPr>
        <p:spPr>
          <a:xfrm>
            <a:off x="2441448" y="822960"/>
            <a:ext cx="2029968" cy="1645920"/>
          </a:xfrm>
          <a:prstGeom prst="rect">
            <a:avLst/>
          </a:prstGeom>
          <a:solidFill>
            <a:srgbClr val="FFFFFF"/>
          </a:solidFill>
          <a:ln w="25400">
            <a:solidFill>
              <a:srgbClr val="0F9D5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8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2441448" y="822960"/>
            <a:ext cx="2029968" cy="73152"/>
          </a:xfrm>
          <a:prstGeom prst="rect">
            <a:avLst/>
          </a:prstGeom>
          <a:solidFill>
            <a:srgbClr val="0F9D58"/>
          </a:solidFill>
          <a:ln/>
        </p:spPr>
      </p:sp>
      <p:sp>
        <p:nvSpPr>
          <p:cNvPr id="12" name="Text 10"/>
          <p:cNvSpPr/>
          <p:nvPr/>
        </p:nvSpPr>
        <p:spPr>
          <a:xfrm>
            <a:off x="2441448" y="960120"/>
            <a:ext cx="2029968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rgbClr val="000000"/>
                </a:solidFill>
              </a:rPr>
              <a:t>🔀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2532888" y="1481328"/>
            <a:ext cx="184708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API Gateway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2514600" y="1865376"/>
            <a:ext cx="1883664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0F9D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Cloud Run</a:t>
            </a:r>
            <a:endParaRPr lang="en-US" sz="950" dirty="0"/>
          </a:p>
        </p:txBody>
      </p:sp>
      <p:sp>
        <p:nvSpPr>
          <p:cNvPr id="15" name="Shape 13"/>
          <p:cNvSpPr/>
          <p:nvPr/>
        </p:nvSpPr>
        <p:spPr>
          <a:xfrm>
            <a:off x="4654296" y="822960"/>
            <a:ext cx="2029968" cy="1645920"/>
          </a:xfrm>
          <a:prstGeom prst="rect">
            <a:avLst/>
          </a:prstGeom>
          <a:solidFill>
            <a:srgbClr val="FFFFFF"/>
          </a:solidFill>
          <a:ln w="25400">
            <a:solidFill>
              <a:srgbClr val="F4B40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8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4654296" y="822960"/>
            <a:ext cx="2029968" cy="73152"/>
          </a:xfrm>
          <a:prstGeom prst="rect">
            <a:avLst/>
          </a:prstGeom>
          <a:solidFill>
            <a:srgbClr val="F4B400"/>
          </a:solidFill>
          <a:ln/>
        </p:spPr>
      </p:sp>
      <p:sp>
        <p:nvSpPr>
          <p:cNvPr id="17" name="Text 15"/>
          <p:cNvSpPr/>
          <p:nvPr/>
        </p:nvSpPr>
        <p:spPr>
          <a:xfrm>
            <a:off x="4654296" y="960120"/>
            <a:ext cx="2029968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rgbClr val="000000"/>
                </a:solidFill>
              </a:rPr>
              <a:t>🧠</a:t>
            </a:r>
            <a:endParaRPr lang="en-US" sz="2800" dirty="0"/>
          </a:p>
        </p:txBody>
      </p:sp>
      <p:sp>
        <p:nvSpPr>
          <p:cNvPr id="18" name="Text 16"/>
          <p:cNvSpPr/>
          <p:nvPr/>
        </p:nvSpPr>
        <p:spPr>
          <a:xfrm>
            <a:off x="4745736" y="1481328"/>
            <a:ext cx="184708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 Engine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4727448" y="1865376"/>
            <a:ext cx="1883664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4B4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Cloud Run (Python)</a:t>
            </a:r>
            <a:endParaRPr lang="en-US" sz="950" dirty="0"/>
          </a:p>
        </p:txBody>
      </p:sp>
      <p:sp>
        <p:nvSpPr>
          <p:cNvPr id="20" name="Shape 18"/>
          <p:cNvSpPr/>
          <p:nvPr/>
        </p:nvSpPr>
        <p:spPr>
          <a:xfrm>
            <a:off x="6867144" y="822960"/>
            <a:ext cx="2029968" cy="1645920"/>
          </a:xfrm>
          <a:prstGeom prst="rect">
            <a:avLst/>
          </a:prstGeom>
          <a:solidFill>
            <a:srgbClr val="FFFFFF"/>
          </a:solidFill>
          <a:ln w="25400">
            <a:solidFill>
              <a:srgbClr val="DB443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8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6867144" y="822960"/>
            <a:ext cx="2029968" cy="73152"/>
          </a:xfrm>
          <a:prstGeom prst="rect">
            <a:avLst/>
          </a:prstGeom>
          <a:solidFill>
            <a:srgbClr val="DB4437"/>
          </a:solidFill>
          <a:ln/>
        </p:spPr>
      </p:sp>
      <p:sp>
        <p:nvSpPr>
          <p:cNvPr id="22" name="Text 20"/>
          <p:cNvSpPr/>
          <p:nvPr/>
        </p:nvSpPr>
        <p:spPr>
          <a:xfrm>
            <a:off x="6867144" y="960120"/>
            <a:ext cx="2029968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rgbClr val="000000"/>
                </a:solidFill>
              </a:rPr>
              <a:t>🔢</a:t>
            </a:r>
            <a:endParaRPr lang="en-US" sz="2800" dirty="0"/>
          </a:p>
        </p:txBody>
      </p:sp>
      <p:sp>
        <p:nvSpPr>
          <p:cNvPr id="23" name="Text 21"/>
          <p:cNvSpPr/>
          <p:nvPr/>
        </p:nvSpPr>
        <p:spPr>
          <a:xfrm>
            <a:off x="6958584" y="1481328"/>
            <a:ext cx="184708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Embedding Model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940296" y="1865376"/>
            <a:ext cx="1883664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DB44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Vertex AI</a:t>
            </a:r>
            <a:endParaRPr lang="en-US" sz="950" dirty="0"/>
          </a:p>
        </p:txBody>
      </p:sp>
      <p:sp>
        <p:nvSpPr>
          <p:cNvPr id="25" name="Shape 23"/>
          <p:cNvSpPr/>
          <p:nvPr/>
        </p:nvSpPr>
        <p:spPr>
          <a:xfrm>
            <a:off x="228600" y="2697480"/>
            <a:ext cx="2029968" cy="1645920"/>
          </a:xfrm>
          <a:prstGeom prst="rect">
            <a:avLst/>
          </a:prstGeom>
          <a:solidFill>
            <a:srgbClr val="FFFFFF"/>
          </a:solidFill>
          <a:ln w="25400">
            <a:solidFill>
              <a:srgbClr val="DB443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8000"/>
              </a:srgbClr>
            </a:outerShdw>
          </a:effectLst>
        </p:spPr>
      </p:sp>
      <p:sp>
        <p:nvSpPr>
          <p:cNvPr id="26" name="Shape 24"/>
          <p:cNvSpPr/>
          <p:nvPr/>
        </p:nvSpPr>
        <p:spPr>
          <a:xfrm>
            <a:off x="228600" y="2697480"/>
            <a:ext cx="2029968" cy="73152"/>
          </a:xfrm>
          <a:prstGeom prst="rect">
            <a:avLst/>
          </a:prstGeom>
          <a:solidFill>
            <a:srgbClr val="DB4437"/>
          </a:solidFill>
          <a:ln/>
        </p:spPr>
      </p:sp>
      <p:sp>
        <p:nvSpPr>
          <p:cNvPr id="27" name="Text 25"/>
          <p:cNvSpPr/>
          <p:nvPr/>
        </p:nvSpPr>
        <p:spPr>
          <a:xfrm>
            <a:off x="228600" y="2834640"/>
            <a:ext cx="2029968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rgbClr val="000000"/>
                </a:solidFill>
              </a:rPr>
              <a:t>🔍</a:t>
            </a:r>
            <a:endParaRPr lang="en-US" sz="2800" dirty="0"/>
          </a:p>
        </p:txBody>
      </p:sp>
      <p:sp>
        <p:nvSpPr>
          <p:cNvPr id="28" name="Text 26"/>
          <p:cNvSpPr/>
          <p:nvPr/>
        </p:nvSpPr>
        <p:spPr>
          <a:xfrm>
            <a:off x="320040" y="3355848"/>
            <a:ext cx="184708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Vector Store</a:t>
            </a:r>
            <a:endParaRPr lang="en-US" sz="1300" dirty="0"/>
          </a:p>
        </p:txBody>
      </p:sp>
      <p:sp>
        <p:nvSpPr>
          <p:cNvPr id="29" name="Text 27"/>
          <p:cNvSpPr/>
          <p:nvPr/>
        </p:nvSpPr>
        <p:spPr>
          <a:xfrm>
            <a:off x="301752" y="3739896"/>
            <a:ext cx="1883664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DB44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Vertex AI Vector Search</a:t>
            </a:r>
            <a:endParaRPr lang="en-US" sz="950" dirty="0"/>
          </a:p>
        </p:txBody>
      </p:sp>
      <p:sp>
        <p:nvSpPr>
          <p:cNvPr id="30" name="Shape 28"/>
          <p:cNvSpPr/>
          <p:nvPr/>
        </p:nvSpPr>
        <p:spPr>
          <a:xfrm>
            <a:off x="2441448" y="2697480"/>
            <a:ext cx="2029968" cy="1645920"/>
          </a:xfrm>
          <a:prstGeom prst="rect">
            <a:avLst/>
          </a:prstGeom>
          <a:solidFill>
            <a:srgbClr val="FFFFFF"/>
          </a:solidFill>
          <a:ln w="25400">
            <a:solidFill>
              <a:srgbClr val="0F9D5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8000"/>
              </a:srgbClr>
            </a:outerShdw>
          </a:effectLst>
        </p:spPr>
      </p:sp>
      <p:sp>
        <p:nvSpPr>
          <p:cNvPr id="31" name="Shape 29"/>
          <p:cNvSpPr/>
          <p:nvPr/>
        </p:nvSpPr>
        <p:spPr>
          <a:xfrm>
            <a:off x="2441448" y="2697480"/>
            <a:ext cx="2029968" cy="73152"/>
          </a:xfrm>
          <a:prstGeom prst="rect">
            <a:avLst/>
          </a:prstGeom>
          <a:solidFill>
            <a:srgbClr val="0F9D58"/>
          </a:solidFill>
          <a:ln/>
        </p:spPr>
      </p:sp>
      <p:sp>
        <p:nvSpPr>
          <p:cNvPr id="32" name="Text 30"/>
          <p:cNvSpPr/>
          <p:nvPr/>
        </p:nvSpPr>
        <p:spPr>
          <a:xfrm>
            <a:off x="2441448" y="2834640"/>
            <a:ext cx="2029968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rgbClr val="000000"/>
                </a:solidFill>
              </a:rPr>
              <a:t>🗄️</a:t>
            </a:r>
            <a:endParaRPr lang="en-US" sz="2800" dirty="0"/>
          </a:p>
        </p:txBody>
      </p:sp>
      <p:sp>
        <p:nvSpPr>
          <p:cNvPr id="33" name="Text 31"/>
          <p:cNvSpPr/>
          <p:nvPr/>
        </p:nvSpPr>
        <p:spPr>
          <a:xfrm>
            <a:off x="2532888" y="3355848"/>
            <a:ext cx="184708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Store</a:t>
            </a:r>
            <a:endParaRPr lang="en-US" sz="1300" dirty="0"/>
          </a:p>
        </p:txBody>
      </p:sp>
      <p:sp>
        <p:nvSpPr>
          <p:cNvPr id="34" name="Text 32"/>
          <p:cNvSpPr/>
          <p:nvPr/>
        </p:nvSpPr>
        <p:spPr>
          <a:xfrm>
            <a:off x="2514600" y="3739896"/>
            <a:ext cx="1883664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0F9D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Firestore</a:t>
            </a:r>
            <a:endParaRPr lang="en-US" sz="950" dirty="0"/>
          </a:p>
        </p:txBody>
      </p:sp>
      <p:sp>
        <p:nvSpPr>
          <p:cNvPr id="35" name="Shape 33"/>
          <p:cNvSpPr/>
          <p:nvPr/>
        </p:nvSpPr>
        <p:spPr>
          <a:xfrm>
            <a:off x="4654296" y="2697480"/>
            <a:ext cx="2029968" cy="1645920"/>
          </a:xfrm>
          <a:prstGeom prst="rect">
            <a:avLst/>
          </a:prstGeom>
          <a:solidFill>
            <a:srgbClr val="FFFFFF"/>
          </a:solidFill>
          <a:ln w="2540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8000"/>
              </a:srgbClr>
            </a:outerShdw>
          </a:effectLst>
        </p:spPr>
      </p:sp>
      <p:sp>
        <p:nvSpPr>
          <p:cNvPr id="36" name="Shape 34"/>
          <p:cNvSpPr/>
          <p:nvPr/>
        </p:nvSpPr>
        <p:spPr>
          <a:xfrm>
            <a:off x="4654296" y="2697480"/>
            <a:ext cx="2029968" cy="73152"/>
          </a:xfrm>
          <a:prstGeom prst="rect">
            <a:avLst/>
          </a:prstGeom>
          <a:solidFill>
            <a:srgbClr val="7C3AED"/>
          </a:solidFill>
          <a:ln/>
        </p:spPr>
      </p:sp>
      <p:sp>
        <p:nvSpPr>
          <p:cNvPr id="37" name="Text 35"/>
          <p:cNvSpPr/>
          <p:nvPr/>
        </p:nvSpPr>
        <p:spPr>
          <a:xfrm>
            <a:off x="4654296" y="2834640"/>
            <a:ext cx="2029968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rgbClr val="000000"/>
                </a:solidFill>
              </a:rPr>
              <a:t>⏰</a:t>
            </a:r>
            <a:endParaRPr lang="en-US" sz="2800" dirty="0"/>
          </a:p>
        </p:txBody>
      </p:sp>
      <p:sp>
        <p:nvSpPr>
          <p:cNvPr id="38" name="Text 36"/>
          <p:cNvSpPr/>
          <p:nvPr/>
        </p:nvSpPr>
        <p:spPr>
          <a:xfrm>
            <a:off x="4745736" y="3355848"/>
            <a:ext cx="184708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Pre-compute Job</a:t>
            </a:r>
            <a:endParaRPr lang="en-US" sz="1300" dirty="0"/>
          </a:p>
        </p:txBody>
      </p:sp>
      <p:sp>
        <p:nvSpPr>
          <p:cNvPr id="39" name="Text 37"/>
          <p:cNvSpPr/>
          <p:nvPr/>
        </p:nvSpPr>
        <p:spPr>
          <a:xfrm>
            <a:off x="4727448" y="3739896"/>
            <a:ext cx="1883664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7C3A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Cloud Scheduler + Fn</a:t>
            </a:r>
            <a:endParaRPr lang="en-US" sz="950" dirty="0"/>
          </a:p>
        </p:txBody>
      </p:sp>
      <p:sp>
        <p:nvSpPr>
          <p:cNvPr id="40" name="Text 38"/>
          <p:cNvSpPr/>
          <p:nvPr/>
        </p:nvSpPr>
        <p:spPr>
          <a:xfrm>
            <a:off x="365760" y="4800600"/>
            <a:ext cx="84124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i="1" dirty="0">
                <a:solidFill>
                  <a:srgbClr val="8B949E"/>
                </a:solidFill>
              </a:rPr>
              <a:t>All services on GCP — one project, one billing account, full data residency control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D11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161B22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0"/>
            <a:ext cx="8412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FFFFFF"/>
                </a:solidFill>
              </a:rPr>
              <a:t>ARCHITECTURE DIAGRAM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365760" y="0"/>
            <a:ext cx="8412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8B949E"/>
                </a:solidFill>
              </a:rPr>
              <a:t>How all GCP components connect and flow together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137160" y="658368"/>
            <a:ext cx="2468880" cy="4297680"/>
          </a:xfrm>
          <a:prstGeom prst="rect">
            <a:avLst/>
          </a:prstGeom>
          <a:solidFill>
            <a:srgbClr val="1A73E8">
              <a:alpha val="7000"/>
            </a:srgbClr>
          </a:solidFill>
          <a:ln w="12700">
            <a:solidFill>
              <a:srgbClr val="1A73E8"/>
            </a:solidFill>
            <a:prstDash val="sysDot"/>
          </a:ln>
        </p:spPr>
      </p:sp>
      <p:sp>
        <p:nvSpPr>
          <p:cNvPr id="6" name="Text 4"/>
          <p:cNvSpPr/>
          <p:nvPr/>
        </p:nvSpPr>
        <p:spPr>
          <a:xfrm>
            <a:off x="164592" y="667512"/>
            <a:ext cx="2414016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1A73E8"/>
                </a:solidFill>
              </a:rPr>
              <a:t>EMPLOYEE ZONE</a:t>
            </a:r>
            <a:endParaRPr lang="en-US" sz="800" dirty="0"/>
          </a:p>
        </p:txBody>
      </p:sp>
      <p:sp>
        <p:nvSpPr>
          <p:cNvPr id="7" name="Shape 5"/>
          <p:cNvSpPr/>
          <p:nvPr/>
        </p:nvSpPr>
        <p:spPr>
          <a:xfrm>
            <a:off x="2834640" y="658368"/>
            <a:ext cx="3429000" cy="4297680"/>
          </a:xfrm>
          <a:prstGeom prst="rect">
            <a:avLst/>
          </a:prstGeom>
          <a:solidFill>
            <a:srgbClr val="F4B400">
              <a:alpha val="5000"/>
            </a:srgbClr>
          </a:solidFill>
          <a:ln w="12700">
            <a:solidFill>
              <a:srgbClr val="F4B400"/>
            </a:solidFill>
            <a:prstDash val="sysDot"/>
          </a:ln>
        </p:spPr>
      </p:sp>
      <p:sp>
        <p:nvSpPr>
          <p:cNvPr id="8" name="Text 6"/>
          <p:cNvSpPr/>
          <p:nvPr/>
        </p:nvSpPr>
        <p:spPr>
          <a:xfrm>
            <a:off x="2862072" y="667512"/>
            <a:ext cx="3374136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4B400"/>
                </a:solidFill>
              </a:rPr>
              <a:t>AI / LOGIC ZONE</a:t>
            </a:r>
            <a:endParaRPr lang="en-US" sz="800" dirty="0"/>
          </a:p>
        </p:txBody>
      </p:sp>
      <p:sp>
        <p:nvSpPr>
          <p:cNvPr id="9" name="Shape 7"/>
          <p:cNvSpPr/>
          <p:nvPr/>
        </p:nvSpPr>
        <p:spPr>
          <a:xfrm>
            <a:off x="6492240" y="658368"/>
            <a:ext cx="2468880" cy="4297680"/>
          </a:xfrm>
          <a:prstGeom prst="rect">
            <a:avLst/>
          </a:prstGeom>
          <a:solidFill>
            <a:srgbClr val="0F9D58">
              <a:alpha val="7000"/>
            </a:srgbClr>
          </a:solidFill>
          <a:ln w="12700">
            <a:solidFill>
              <a:srgbClr val="0F9D58"/>
            </a:solidFill>
            <a:prstDash val="sysDot"/>
          </a:ln>
        </p:spPr>
      </p:sp>
      <p:sp>
        <p:nvSpPr>
          <p:cNvPr id="10" name="Text 8"/>
          <p:cNvSpPr/>
          <p:nvPr/>
        </p:nvSpPr>
        <p:spPr>
          <a:xfrm>
            <a:off x="6519672" y="667512"/>
            <a:ext cx="2414016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0F9D58"/>
                </a:solidFill>
              </a:rPr>
              <a:t>DATA ZONE</a:t>
            </a:r>
            <a:endParaRPr lang="en-US" sz="800" dirty="0"/>
          </a:p>
        </p:txBody>
      </p:sp>
      <p:sp>
        <p:nvSpPr>
          <p:cNvPr id="11" name="Shape 9"/>
          <p:cNvSpPr/>
          <p:nvPr/>
        </p:nvSpPr>
        <p:spPr>
          <a:xfrm>
            <a:off x="228600" y="960120"/>
            <a:ext cx="2286000" cy="566928"/>
          </a:xfrm>
          <a:prstGeom prst="rect">
            <a:avLst/>
          </a:prstGeom>
          <a:solidFill>
            <a:srgbClr val="1E2530"/>
          </a:solidFill>
          <a:ln w="19050">
            <a:solidFill>
              <a:srgbClr val="1A73E8"/>
            </a:solidFill>
            <a:prstDash val="solid"/>
          </a:ln>
          <a:effectLst>
            <a:outerShdw sx="100000" sy="100000" kx="0" ky="0" algn="bl" rotWithShape="0" blurRad="76200" dist="25400" dir="8100000">
              <a:srgbClr val="000000">
                <a:alpha val="40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228600" y="960120"/>
            <a:ext cx="2286000" cy="54864"/>
          </a:xfrm>
          <a:prstGeom prst="rect">
            <a:avLst/>
          </a:prstGeom>
          <a:solidFill>
            <a:srgbClr val="1A73E8"/>
          </a:solidFill>
          <a:ln/>
        </p:spPr>
      </p:sp>
      <p:sp>
        <p:nvSpPr>
          <p:cNvPr id="13" name="Shape 11"/>
          <p:cNvSpPr/>
          <p:nvPr/>
        </p:nvSpPr>
        <p:spPr>
          <a:xfrm>
            <a:off x="301752" y="1069848"/>
            <a:ext cx="347472" cy="256032"/>
          </a:xfrm>
          <a:prstGeom prst="rect">
            <a:avLst/>
          </a:prstGeom>
          <a:solidFill>
            <a:srgbClr val="1A73E8">
              <a:alpha val="70000"/>
            </a:srgbClr>
          </a:solidFill>
          <a:ln/>
        </p:spPr>
      </p:sp>
      <p:sp>
        <p:nvSpPr>
          <p:cNvPr id="14" name="Text 12"/>
          <p:cNvSpPr/>
          <p:nvPr/>
        </p:nvSpPr>
        <p:spPr>
          <a:xfrm>
            <a:off x="301752" y="1069848"/>
            <a:ext cx="34747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</a:rPr>
              <a:t>APP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704088" y="1051560"/>
            <a:ext cx="17373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MYQStudio App</a:t>
            </a:r>
            <a:endParaRPr lang="en-US" sz="1050" dirty="0"/>
          </a:p>
        </p:txBody>
      </p:sp>
      <p:sp>
        <p:nvSpPr>
          <p:cNvPr id="16" name="Text 14"/>
          <p:cNvSpPr/>
          <p:nvPr/>
        </p:nvSpPr>
        <p:spPr>
          <a:xfrm>
            <a:off x="704088" y="1234440"/>
            <a:ext cx="17373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Web / Mobile</a:t>
            </a:r>
            <a:endParaRPr lang="en-US" sz="850" dirty="0"/>
          </a:p>
        </p:txBody>
      </p:sp>
      <p:sp>
        <p:nvSpPr>
          <p:cNvPr id="17" name="Text 15"/>
          <p:cNvSpPr/>
          <p:nvPr/>
        </p:nvSpPr>
        <p:spPr>
          <a:xfrm>
            <a:off x="320040" y="1325880"/>
            <a:ext cx="213969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1A73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Firebase Hosting</a:t>
            </a:r>
            <a:endParaRPr lang="en-US" sz="800" dirty="0"/>
          </a:p>
        </p:txBody>
      </p:sp>
      <p:sp>
        <p:nvSpPr>
          <p:cNvPr id="18" name="Shape 16"/>
          <p:cNvSpPr/>
          <p:nvPr/>
        </p:nvSpPr>
        <p:spPr>
          <a:xfrm>
            <a:off x="228600" y="3767328"/>
            <a:ext cx="2286000" cy="566928"/>
          </a:xfrm>
          <a:prstGeom prst="rect">
            <a:avLst/>
          </a:prstGeom>
          <a:solidFill>
            <a:srgbClr val="1E2530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76200" dist="25400" dir="8100000">
              <a:srgbClr val="000000">
                <a:alpha val="40000"/>
              </a:srgbClr>
            </a:outerShdw>
          </a:effectLst>
        </p:spPr>
      </p:sp>
      <p:sp>
        <p:nvSpPr>
          <p:cNvPr id="19" name="Shape 17"/>
          <p:cNvSpPr/>
          <p:nvPr/>
        </p:nvSpPr>
        <p:spPr>
          <a:xfrm>
            <a:off x="228600" y="3767328"/>
            <a:ext cx="2286000" cy="54864"/>
          </a:xfrm>
          <a:prstGeom prst="rect">
            <a:avLst/>
          </a:prstGeom>
          <a:solidFill>
            <a:srgbClr val="7C3AED"/>
          </a:solidFill>
          <a:ln/>
        </p:spPr>
      </p:sp>
      <p:sp>
        <p:nvSpPr>
          <p:cNvPr id="20" name="Shape 18"/>
          <p:cNvSpPr/>
          <p:nvPr/>
        </p:nvSpPr>
        <p:spPr>
          <a:xfrm>
            <a:off x="301752" y="3877056"/>
            <a:ext cx="347472" cy="256032"/>
          </a:xfrm>
          <a:prstGeom prst="rect">
            <a:avLst/>
          </a:prstGeom>
          <a:solidFill>
            <a:srgbClr val="7C3AED">
              <a:alpha val="70000"/>
            </a:srgbClr>
          </a:solidFill>
          <a:ln/>
        </p:spPr>
      </p:sp>
      <p:sp>
        <p:nvSpPr>
          <p:cNvPr id="21" name="Text 19"/>
          <p:cNvSpPr/>
          <p:nvPr/>
        </p:nvSpPr>
        <p:spPr>
          <a:xfrm>
            <a:off x="301752" y="3877056"/>
            <a:ext cx="34747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</a:rPr>
              <a:t>FBK</a:t>
            </a:r>
            <a:endParaRPr lang="en-US" sz="800" dirty="0"/>
          </a:p>
        </p:txBody>
      </p:sp>
      <p:sp>
        <p:nvSpPr>
          <p:cNvPr id="22" name="Text 20"/>
          <p:cNvSpPr/>
          <p:nvPr/>
        </p:nvSpPr>
        <p:spPr>
          <a:xfrm>
            <a:off x="704088" y="3858768"/>
            <a:ext cx="17373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Feedback Collector</a:t>
            </a:r>
            <a:endParaRPr lang="en-US" sz="1050" dirty="0"/>
          </a:p>
        </p:txBody>
      </p:sp>
      <p:sp>
        <p:nvSpPr>
          <p:cNvPr id="23" name="Text 21"/>
          <p:cNvSpPr/>
          <p:nvPr/>
        </p:nvSpPr>
        <p:spPr>
          <a:xfrm>
            <a:off x="704088" y="4041648"/>
            <a:ext cx="17373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Signals Loop</a:t>
            </a:r>
            <a:endParaRPr lang="en-US" sz="850" dirty="0"/>
          </a:p>
        </p:txBody>
      </p:sp>
      <p:sp>
        <p:nvSpPr>
          <p:cNvPr id="24" name="Text 22"/>
          <p:cNvSpPr/>
          <p:nvPr/>
        </p:nvSpPr>
        <p:spPr>
          <a:xfrm>
            <a:off x="320040" y="4133088"/>
            <a:ext cx="213969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7C3A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Firestore + Cloud Fn</a:t>
            </a:r>
            <a:endParaRPr lang="en-US" sz="800" dirty="0"/>
          </a:p>
        </p:txBody>
      </p:sp>
      <p:sp>
        <p:nvSpPr>
          <p:cNvPr id="25" name="Shape 23"/>
          <p:cNvSpPr/>
          <p:nvPr/>
        </p:nvSpPr>
        <p:spPr>
          <a:xfrm>
            <a:off x="2926080" y="960120"/>
            <a:ext cx="2286000" cy="566928"/>
          </a:xfrm>
          <a:prstGeom prst="rect">
            <a:avLst/>
          </a:prstGeom>
          <a:solidFill>
            <a:srgbClr val="1E2530"/>
          </a:solidFill>
          <a:ln w="19050">
            <a:solidFill>
              <a:srgbClr val="0F9D58"/>
            </a:solidFill>
            <a:prstDash val="solid"/>
          </a:ln>
          <a:effectLst>
            <a:outerShdw sx="100000" sy="100000" kx="0" ky="0" algn="bl" rotWithShape="0" blurRad="76200" dist="25400" dir="8100000">
              <a:srgbClr val="000000">
                <a:alpha val="40000"/>
              </a:srgbClr>
            </a:outerShdw>
          </a:effectLst>
        </p:spPr>
      </p:sp>
      <p:sp>
        <p:nvSpPr>
          <p:cNvPr id="26" name="Shape 24"/>
          <p:cNvSpPr/>
          <p:nvPr/>
        </p:nvSpPr>
        <p:spPr>
          <a:xfrm>
            <a:off x="2926080" y="960120"/>
            <a:ext cx="2286000" cy="54864"/>
          </a:xfrm>
          <a:prstGeom prst="rect">
            <a:avLst/>
          </a:prstGeom>
          <a:solidFill>
            <a:srgbClr val="0F9D58"/>
          </a:solidFill>
          <a:ln/>
        </p:spPr>
      </p:sp>
      <p:sp>
        <p:nvSpPr>
          <p:cNvPr id="27" name="Shape 25"/>
          <p:cNvSpPr/>
          <p:nvPr/>
        </p:nvSpPr>
        <p:spPr>
          <a:xfrm>
            <a:off x="2999232" y="1069848"/>
            <a:ext cx="347472" cy="256032"/>
          </a:xfrm>
          <a:prstGeom prst="rect">
            <a:avLst/>
          </a:prstGeom>
          <a:solidFill>
            <a:srgbClr val="0F9D58">
              <a:alpha val="70000"/>
            </a:srgbClr>
          </a:solidFill>
          <a:ln/>
        </p:spPr>
      </p:sp>
      <p:sp>
        <p:nvSpPr>
          <p:cNvPr id="28" name="Text 26"/>
          <p:cNvSpPr/>
          <p:nvPr/>
        </p:nvSpPr>
        <p:spPr>
          <a:xfrm>
            <a:off x="2999232" y="1069848"/>
            <a:ext cx="34747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</a:rPr>
              <a:t>API</a:t>
            </a:r>
            <a:endParaRPr lang="en-US" sz="800" dirty="0"/>
          </a:p>
        </p:txBody>
      </p:sp>
      <p:sp>
        <p:nvSpPr>
          <p:cNvPr id="29" name="Text 27"/>
          <p:cNvSpPr/>
          <p:nvPr/>
        </p:nvSpPr>
        <p:spPr>
          <a:xfrm>
            <a:off x="3401568" y="1051560"/>
            <a:ext cx="17373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API Gateway</a:t>
            </a:r>
            <a:endParaRPr lang="en-US" sz="1050" dirty="0"/>
          </a:p>
        </p:txBody>
      </p:sp>
      <p:sp>
        <p:nvSpPr>
          <p:cNvPr id="30" name="Text 28"/>
          <p:cNvSpPr/>
          <p:nvPr/>
        </p:nvSpPr>
        <p:spPr>
          <a:xfrm>
            <a:off x="3401568" y="1234440"/>
            <a:ext cx="17373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Request Router</a:t>
            </a:r>
            <a:endParaRPr lang="en-US" sz="850" dirty="0"/>
          </a:p>
        </p:txBody>
      </p:sp>
      <p:sp>
        <p:nvSpPr>
          <p:cNvPr id="31" name="Text 29"/>
          <p:cNvSpPr/>
          <p:nvPr/>
        </p:nvSpPr>
        <p:spPr>
          <a:xfrm>
            <a:off x="3017520" y="1325880"/>
            <a:ext cx="213969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F9D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Cloud Run</a:t>
            </a:r>
            <a:endParaRPr lang="en-US" sz="800" dirty="0"/>
          </a:p>
        </p:txBody>
      </p:sp>
      <p:sp>
        <p:nvSpPr>
          <p:cNvPr id="32" name="Shape 30"/>
          <p:cNvSpPr/>
          <p:nvPr/>
        </p:nvSpPr>
        <p:spPr>
          <a:xfrm>
            <a:off x="2926080" y="2057400"/>
            <a:ext cx="2286000" cy="566928"/>
          </a:xfrm>
          <a:prstGeom prst="rect">
            <a:avLst/>
          </a:prstGeom>
          <a:solidFill>
            <a:srgbClr val="1E2530"/>
          </a:solidFill>
          <a:ln w="19050">
            <a:solidFill>
              <a:srgbClr val="F4B400"/>
            </a:solidFill>
            <a:prstDash val="solid"/>
          </a:ln>
          <a:effectLst>
            <a:outerShdw sx="100000" sy="100000" kx="0" ky="0" algn="bl" rotWithShape="0" blurRad="76200" dist="25400" dir="8100000">
              <a:srgbClr val="000000">
                <a:alpha val="40000"/>
              </a:srgbClr>
            </a:outerShdw>
          </a:effectLst>
        </p:spPr>
      </p:sp>
      <p:sp>
        <p:nvSpPr>
          <p:cNvPr id="33" name="Shape 31"/>
          <p:cNvSpPr/>
          <p:nvPr/>
        </p:nvSpPr>
        <p:spPr>
          <a:xfrm>
            <a:off x="2926080" y="2057400"/>
            <a:ext cx="2286000" cy="54864"/>
          </a:xfrm>
          <a:prstGeom prst="rect">
            <a:avLst/>
          </a:prstGeom>
          <a:solidFill>
            <a:srgbClr val="F4B400"/>
          </a:solidFill>
          <a:ln/>
        </p:spPr>
      </p:sp>
      <p:sp>
        <p:nvSpPr>
          <p:cNvPr id="34" name="Shape 32"/>
          <p:cNvSpPr/>
          <p:nvPr/>
        </p:nvSpPr>
        <p:spPr>
          <a:xfrm>
            <a:off x="2999232" y="2167128"/>
            <a:ext cx="347472" cy="256032"/>
          </a:xfrm>
          <a:prstGeom prst="rect">
            <a:avLst/>
          </a:prstGeom>
          <a:solidFill>
            <a:srgbClr val="F4B400">
              <a:alpha val="70000"/>
            </a:srgbClr>
          </a:solidFill>
          <a:ln/>
        </p:spPr>
      </p:sp>
      <p:sp>
        <p:nvSpPr>
          <p:cNvPr id="35" name="Text 33"/>
          <p:cNvSpPr/>
          <p:nvPr/>
        </p:nvSpPr>
        <p:spPr>
          <a:xfrm>
            <a:off x="2999232" y="2167128"/>
            <a:ext cx="34747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</a:rPr>
              <a:t>AI</a:t>
            </a:r>
            <a:endParaRPr lang="en-US" sz="800" dirty="0"/>
          </a:p>
        </p:txBody>
      </p:sp>
      <p:sp>
        <p:nvSpPr>
          <p:cNvPr id="36" name="Text 34"/>
          <p:cNvSpPr/>
          <p:nvPr/>
        </p:nvSpPr>
        <p:spPr>
          <a:xfrm>
            <a:off x="3401568" y="2148840"/>
            <a:ext cx="17373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 Engine</a:t>
            </a:r>
            <a:endParaRPr lang="en-US" sz="1050" dirty="0"/>
          </a:p>
        </p:txBody>
      </p:sp>
      <p:sp>
        <p:nvSpPr>
          <p:cNvPr id="37" name="Text 35"/>
          <p:cNvSpPr/>
          <p:nvPr/>
        </p:nvSpPr>
        <p:spPr>
          <a:xfrm>
            <a:off x="3401568" y="2331720"/>
            <a:ext cx="17373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50 / 30 / 20 Scoring</a:t>
            </a:r>
            <a:endParaRPr lang="en-US" sz="850" dirty="0"/>
          </a:p>
        </p:txBody>
      </p:sp>
      <p:sp>
        <p:nvSpPr>
          <p:cNvPr id="38" name="Text 36"/>
          <p:cNvSpPr/>
          <p:nvPr/>
        </p:nvSpPr>
        <p:spPr>
          <a:xfrm>
            <a:off x="3017520" y="2423160"/>
            <a:ext cx="213969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F4B4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Cloud Run (Python)</a:t>
            </a:r>
            <a:endParaRPr lang="en-US" sz="800" dirty="0"/>
          </a:p>
        </p:txBody>
      </p:sp>
      <p:sp>
        <p:nvSpPr>
          <p:cNvPr id="39" name="Shape 37"/>
          <p:cNvSpPr/>
          <p:nvPr/>
        </p:nvSpPr>
        <p:spPr>
          <a:xfrm>
            <a:off x="2926080" y="3127248"/>
            <a:ext cx="2286000" cy="566928"/>
          </a:xfrm>
          <a:prstGeom prst="rect">
            <a:avLst/>
          </a:prstGeom>
          <a:solidFill>
            <a:srgbClr val="1E2530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76200" dist="25400" dir="8100000">
              <a:srgbClr val="000000">
                <a:alpha val="40000"/>
              </a:srgbClr>
            </a:outerShdw>
          </a:effectLst>
        </p:spPr>
      </p:sp>
      <p:sp>
        <p:nvSpPr>
          <p:cNvPr id="40" name="Shape 38"/>
          <p:cNvSpPr/>
          <p:nvPr/>
        </p:nvSpPr>
        <p:spPr>
          <a:xfrm>
            <a:off x="2926080" y="3127248"/>
            <a:ext cx="2286000" cy="54864"/>
          </a:xfrm>
          <a:prstGeom prst="rect">
            <a:avLst/>
          </a:prstGeom>
          <a:solidFill>
            <a:srgbClr val="7C3AED"/>
          </a:solidFill>
          <a:ln/>
        </p:spPr>
      </p:sp>
      <p:sp>
        <p:nvSpPr>
          <p:cNvPr id="41" name="Shape 39"/>
          <p:cNvSpPr/>
          <p:nvPr/>
        </p:nvSpPr>
        <p:spPr>
          <a:xfrm>
            <a:off x="2999232" y="3236976"/>
            <a:ext cx="347472" cy="256032"/>
          </a:xfrm>
          <a:prstGeom prst="rect">
            <a:avLst/>
          </a:prstGeom>
          <a:solidFill>
            <a:srgbClr val="7C3AED">
              <a:alpha val="70000"/>
            </a:srgbClr>
          </a:solidFill>
          <a:ln/>
        </p:spPr>
      </p:sp>
      <p:sp>
        <p:nvSpPr>
          <p:cNvPr id="42" name="Text 40"/>
          <p:cNvSpPr/>
          <p:nvPr/>
        </p:nvSpPr>
        <p:spPr>
          <a:xfrm>
            <a:off x="2999232" y="3236976"/>
            <a:ext cx="34747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</a:rPr>
              <a:t>JOB</a:t>
            </a:r>
            <a:endParaRPr lang="en-US" sz="800" dirty="0"/>
          </a:p>
        </p:txBody>
      </p:sp>
      <p:sp>
        <p:nvSpPr>
          <p:cNvPr id="43" name="Text 41"/>
          <p:cNvSpPr/>
          <p:nvPr/>
        </p:nvSpPr>
        <p:spPr>
          <a:xfrm>
            <a:off x="3401568" y="3218688"/>
            <a:ext cx="17373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Pre-compute Job</a:t>
            </a:r>
            <a:endParaRPr lang="en-US" sz="1050" dirty="0"/>
          </a:p>
        </p:txBody>
      </p:sp>
      <p:sp>
        <p:nvSpPr>
          <p:cNvPr id="44" name="Text 42"/>
          <p:cNvSpPr/>
          <p:nvPr/>
        </p:nvSpPr>
        <p:spPr>
          <a:xfrm>
            <a:off x="3401568" y="3401568"/>
            <a:ext cx="17373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Nightly Batch</a:t>
            </a:r>
            <a:endParaRPr lang="en-US" sz="850" dirty="0"/>
          </a:p>
        </p:txBody>
      </p:sp>
      <p:sp>
        <p:nvSpPr>
          <p:cNvPr id="45" name="Text 43"/>
          <p:cNvSpPr/>
          <p:nvPr/>
        </p:nvSpPr>
        <p:spPr>
          <a:xfrm>
            <a:off x="3017520" y="3493008"/>
            <a:ext cx="213969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7C3A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Cloud Scheduler + Fn</a:t>
            </a:r>
            <a:endParaRPr lang="en-US" sz="800" dirty="0"/>
          </a:p>
        </p:txBody>
      </p:sp>
      <p:sp>
        <p:nvSpPr>
          <p:cNvPr id="46" name="Shape 44"/>
          <p:cNvSpPr/>
          <p:nvPr/>
        </p:nvSpPr>
        <p:spPr>
          <a:xfrm>
            <a:off x="6583680" y="960120"/>
            <a:ext cx="2286000" cy="566928"/>
          </a:xfrm>
          <a:prstGeom prst="rect">
            <a:avLst/>
          </a:prstGeom>
          <a:solidFill>
            <a:srgbClr val="1E2530"/>
          </a:solidFill>
          <a:ln w="19050">
            <a:solidFill>
              <a:srgbClr val="DB4437"/>
            </a:solidFill>
            <a:prstDash val="solid"/>
          </a:ln>
          <a:effectLst>
            <a:outerShdw sx="100000" sy="100000" kx="0" ky="0" algn="bl" rotWithShape="0" blurRad="76200" dist="25400" dir="8100000">
              <a:srgbClr val="000000">
                <a:alpha val="40000"/>
              </a:srgbClr>
            </a:outerShdw>
          </a:effectLst>
        </p:spPr>
      </p:sp>
      <p:sp>
        <p:nvSpPr>
          <p:cNvPr id="47" name="Shape 45"/>
          <p:cNvSpPr/>
          <p:nvPr/>
        </p:nvSpPr>
        <p:spPr>
          <a:xfrm>
            <a:off x="6583680" y="960120"/>
            <a:ext cx="2286000" cy="54864"/>
          </a:xfrm>
          <a:prstGeom prst="rect">
            <a:avLst/>
          </a:prstGeom>
          <a:solidFill>
            <a:srgbClr val="DB4437"/>
          </a:solidFill>
          <a:ln/>
        </p:spPr>
      </p:sp>
      <p:sp>
        <p:nvSpPr>
          <p:cNvPr id="48" name="Shape 46"/>
          <p:cNvSpPr/>
          <p:nvPr/>
        </p:nvSpPr>
        <p:spPr>
          <a:xfrm>
            <a:off x="6656832" y="1069848"/>
            <a:ext cx="347472" cy="256032"/>
          </a:xfrm>
          <a:prstGeom prst="rect">
            <a:avLst/>
          </a:prstGeom>
          <a:solidFill>
            <a:srgbClr val="DB4437">
              <a:alpha val="70000"/>
            </a:srgbClr>
          </a:solidFill>
          <a:ln/>
        </p:spPr>
      </p:sp>
      <p:sp>
        <p:nvSpPr>
          <p:cNvPr id="49" name="Text 47"/>
          <p:cNvSpPr/>
          <p:nvPr/>
        </p:nvSpPr>
        <p:spPr>
          <a:xfrm>
            <a:off x="6656832" y="1069848"/>
            <a:ext cx="34747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</a:rPr>
              <a:t>EMB</a:t>
            </a:r>
            <a:endParaRPr lang="en-US" sz="800" dirty="0"/>
          </a:p>
        </p:txBody>
      </p:sp>
      <p:sp>
        <p:nvSpPr>
          <p:cNvPr id="50" name="Text 48"/>
          <p:cNvSpPr/>
          <p:nvPr/>
        </p:nvSpPr>
        <p:spPr>
          <a:xfrm>
            <a:off x="7059168" y="1051560"/>
            <a:ext cx="17373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Embedding Model</a:t>
            </a:r>
            <a:endParaRPr lang="en-US" sz="1050" dirty="0"/>
          </a:p>
        </p:txBody>
      </p:sp>
      <p:sp>
        <p:nvSpPr>
          <p:cNvPr id="51" name="Text 49"/>
          <p:cNvSpPr/>
          <p:nvPr/>
        </p:nvSpPr>
        <p:spPr>
          <a:xfrm>
            <a:off x="7059168" y="1234440"/>
            <a:ext cx="17373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Text → Vectors</a:t>
            </a:r>
            <a:endParaRPr lang="en-US" sz="850" dirty="0"/>
          </a:p>
        </p:txBody>
      </p:sp>
      <p:sp>
        <p:nvSpPr>
          <p:cNvPr id="52" name="Text 50"/>
          <p:cNvSpPr/>
          <p:nvPr/>
        </p:nvSpPr>
        <p:spPr>
          <a:xfrm>
            <a:off x="6675120" y="1325880"/>
            <a:ext cx="213969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DB44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Vertex AI</a:t>
            </a:r>
            <a:endParaRPr lang="en-US" sz="800" dirty="0"/>
          </a:p>
        </p:txBody>
      </p:sp>
      <p:sp>
        <p:nvSpPr>
          <p:cNvPr id="53" name="Shape 51"/>
          <p:cNvSpPr/>
          <p:nvPr/>
        </p:nvSpPr>
        <p:spPr>
          <a:xfrm>
            <a:off x="6583680" y="2057400"/>
            <a:ext cx="2286000" cy="566928"/>
          </a:xfrm>
          <a:prstGeom prst="rect">
            <a:avLst/>
          </a:prstGeom>
          <a:solidFill>
            <a:srgbClr val="1E2530"/>
          </a:solidFill>
          <a:ln w="19050">
            <a:solidFill>
              <a:srgbClr val="DB4437"/>
            </a:solidFill>
            <a:prstDash val="solid"/>
          </a:ln>
          <a:effectLst>
            <a:outerShdw sx="100000" sy="100000" kx="0" ky="0" algn="bl" rotWithShape="0" blurRad="76200" dist="25400" dir="8100000">
              <a:srgbClr val="000000">
                <a:alpha val="40000"/>
              </a:srgbClr>
            </a:outerShdw>
          </a:effectLst>
        </p:spPr>
      </p:sp>
      <p:sp>
        <p:nvSpPr>
          <p:cNvPr id="54" name="Shape 52"/>
          <p:cNvSpPr/>
          <p:nvPr/>
        </p:nvSpPr>
        <p:spPr>
          <a:xfrm>
            <a:off x="6583680" y="2057400"/>
            <a:ext cx="2286000" cy="54864"/>
          </a:xfrm>
          <a:prstGeom prst="rect">
            <a:avLst/>
          </a:prstGeom>
          <a:solidFill>
            <a:srgbClr val="DB4437"/>
          </a:solidFill>
          <a:ln/>
        </p:spPr>
      </p:sp>
      <p:sp>
        <p:nvSpPr>
          <p:cNvPr id="55" name="Shape 53"/>
          <p:cNvSpPr/>
          <p:nvPr/>
        </p:nvSpPr>
        <p:spPr>
          <a:xfrm>
            <a:off x="6656832" y="2167128"/>
            <a:ext cx="347472" cy="256032"/>
          </a:xfrm>
          <a:prstGeom prst="rect">
            <a:avLst/>
          </a:prstGeom>
          <a:solidFill>
            <a:srgbClr val="DB4437">
              <a:alpha val="70000"/>
            </a:srgbClr>
          </a:solidFill>
          <a:ln/>
        </p:spPr>
      </p:sp>
      <p:sp>
        <p:nvSpPr>
          <p:cNvPr id="56" name="Text 54"/>
          <p:cNvSpPr/>
          <p:nvPr/>
        </p:nvSpPr>
        <p:spPr>
          <a:xfrm>
            <a:off x="6656832" y="2167128"/>
            <a:ext cx="34747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</a:rPr>
              <a:t>VEC</a:t>
            </a:r>
            <a:endParaRPr lang="en-US" sz="800" dirty="0"/>
          </a:p>
        </p:txBody>
      </p:sp>
      <p:sp>
        <p:nvSpPr>
          <p:cNvPr id="57" name="Text 55"/>
          <p:cNvSpPr/>
          <p:nvPr/>
        </p:nvSpPr>
        <p:spPr>
          <a:xfrm>
            <a:off x="7059168" y="2148840"/>
            <a:ext cx="17373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Vector Store</a:t>
            </a:r>
            <a:endParaRPr lang="en-US" sz="1050" dirty="0"/>
          </a:p>
        </p:txBody>
      </p:sp>
      <p:sp>
        <p:nvSpPr>
          <p:cNvPr id="58" name="Text 56"/>
          <p:cNvSpPr/>
          <p:nvPr/>
        </p:nvSpPr>
        <p:spPr>
          <a:xfrm>
            <a:off x="7059168" y="2331720"/>
            <a:ext cx="17373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Similarity Search</a:t>
            </a:r>
            <a:endParaRPr lang="en-US" sz="850" dirty="0"/>
          </a:p>
        </p:txBody>
      </p:sp>
      <p:sp>
        <p:nvSpPr>
          <p:cNvPr id="59" name="Text 57"/>
          <p:cNvSpPr/>
          <p:nvPr/>
        </p:nvSpPr>
        <p:spPr>
          <a:xfrm>
            <a:off x="6675120" y="2423160"/>
            <a:ext cx="213969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DB44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Vertex AI Vector Search</a:t>
            </a:r>
            <a:endParaRPr lang="en-US" sz="800" dirty="0"/>
          </a:p>
        </p:txBody>
      </p:sp>
      <p:sp>
        <p:nvSpPr>
          <p:cNvPr id="60" name="Shape 58"/>
          <p:cNvSpPr/>
          <p:nvPr/>
        </p:nvSpPr>
        <p:spPr>
          <a:xfrm>
            <a:off x="6583680" y="3127248"/>
            <a:ext cx="2286000" cy="566928"/>
          </a:xfrm>
          <a:prstGeom prst="rect">
            <a:avLst/>
          </a:prstGeom>
          <a:solidFill>
            <a:srgbClr val="1E2530"/>
          </a:solidFill>
          <a:ln w="19050">
            <a:solidFill>
              <a:srgbClr val="0F9D58"/>
            </a:solidFill>
            <a:prstDash val="solid"/>
          </a:ln>
          <a:effectLst>
            <a:outerShdw sx="100000" sy="100000" kx="0" ky="0" algn="bl" rotWithShape="0" blurRad="76200" dist="25400" dir="8100000">
              <a:srgbClr val="000000">
                <a:alpha val="40000"/>
              </a:srgbClr>
            </a:outerShdw>
          </a:effectLst>
        </p:spPr>
      </p:sp>
      <p:sp>
        <p:nvSpPr>
          <p:cNvPr id="61" name="Shape 59"/>
          <p:cNvSpPr/>
          <p:nvPr/>
        </p:nvSpPr>
        <p:spPr>
          <a:xfrm>
            <a:off x="6583680" y="3127248"/>
            <a:ext cx="2286000" cy="54864"/>
          </a:xfrm>
          <a:prstGeom prst="rect">
            <a:avLst/>
          </a:prstGeom>
          <a:solidFill>
            <a:srgbClr val="0F9D58"/>
          </a:solidFill>
          <a:ln/>
        </p:spPr>
      </p:sp>
      <p:sp>
        <p:nvSpPr>
          <p:cNvPr id="62" name="Shape 60"/>
          <p:cNvSpPr/>
          <p:nvPr/>
        </p:nvSpPr>
        <p:spPr>
          <a:xfrm>
            <a:off x="6656832" y="3236976"/>
            <a:ext cx="347472" cy="256032"/>
          </a:xfrm>
          <a:prstGeom prst="rect">
            <a:avLst/>
          </a:prstGeom>
          <a:solidFill>
            <a:srgbClr val="0F9D58">
              <a:alpha val="70000"/>
            </a:srgbClr>
          </a:solidFill>
          <a:ln/>
        </p:spPr>
      </p:sp>
      <p:sp>
        <p:nvSpPr>
          <p:cNvPr id="63" name="Text 61"/>
          <p:cNvSpPr/>
          <p:nvPr/>
        </p:nvSpPr>
        <p:spPr>
          <a:xfrm>
            <a:off x="6656832" y="3236976"/>
            <a:ext cx="34747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</a:rPr>
              <a:t>DB</a:t>
            </a:r>
            <a:endParaRPr lang="en-US" sz="800" dirty="0"/>
          </a:p>
        </p:txBody>
      </p:sp>
      <p:sp>
        <p:nvSpPr>
          <p:cNvPr id="64" name="Text 62"/>
          <p:cNvSpPr/>
          <p:nvPr/>
        </p:nvSpPr>
        <p:spPr>
          <a:xfrm>
            <a:off x="7059168" y="3218688"/>
            <a:ext cx="17373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Store</a:t>
            </a:r>
            <a:endParaRPr lang="en-US" sz="1050" dirty="0"/>
          </a:p>
        </p:txBody>
      </p:sp>
      <p:sp>
        <p:nvSpPr>
          <p:cNvPr id="65" name="Text 63"/>
          <p:cNvSpPr/>
          <p:nvPr/>
        </p:nvSpPr>
        <p:spPr>
          <a:xfrm>
            <a:off x="7059168" y="3401568"/>
            <a:ext cx="17373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Profiles + Content</a:t>
            </a:r>
            <a:endParaRPr lang="en-US" sz="850" dirty="0"/>
          </a:p>
        </p:txBody>
      </p:sp>
      <p:sp>
        <p:nvSpPr>
          <p:cNvPr id="66" name="Text 64"/>
          <p:cNvSpPr/>
          <p:nvPr/>
        </p:nvSpPr>
        <p:spPr>
          <a:xfrm>
            <a:off x="6675120" y="3493008"/>
            <a:ext cx="213969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F9D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Firestore</a:t>
            </a:r>
            <a:endParaRPr lang="en-US" sz="800" dirty="0"/>
          </a:p>
        </p:txBody>
      </p:sp>
      <p:sp>
        <p:nvSpPr>
          <p:cNvPr id="67" name="Shape 65"/>
          <p:cNvSpPr/>
          <p:nvPr/>
        </p:nvSpPr>
        <p:spPr>
          <a:xfrm>
            <a:off x="2514600" y="1243584"/>
            <a:ext cx="411480" cy="0"/>
          </a:xfrm>
          <a:prstGeom prst="line">
            <a:avLst/>
          </a:prstGeom>
          <a:noFill/>
          <a:ln w="15240">
            <a:solidFill>
              <a:srgbClr val="1A73E8"/>
            </a:solidFill>
            <a:prstDash val="sysDot"/>
            <a:tailEnd type="arrow"/>
          </a:ln>
        </p:spPr>
      </p:sp>
      <p:sp>
        <p:nvSpPr>
          <p:cNvPr id="68" name="Text 66"/>
          <p:cNvSpPr/>
          <p:nvPr/>
        </p:nvSpPr>
        <p:spPr>
          <a:xfrm>
            <a:off x="2171700" y="1088136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636E7B"/>
                </a:solidFill>
              </a:rPr>
              <a:t>HTTP request</a:t>
            </a:r>
            <a:endParaRPr lang="en-US" sz="750" dirty="0"/>
          </a:p>
        </p:txBody>
      </p:sp>
      <p:sp>
        <p:nvSpPr>
          <p:cNvPr id="69" name="Shape 67"/>
          <p:cNvSpPr/>
          <p:nvPr/>
        </p:nvSpPr>
        <p:spPr>
          <a:xfrm>
            <a:off x="4069080" y="1527048"/>
            <a:ext cx="0" cy="530352"/>
          </a:xfrm>
          <a:prstGeom prst="line">
            <a:avLst/>
          </a:prstGeom>
          <a:noFill/>
          <a:ln w="15240">
            <a:solidFill>
              <a:srgbClr val="0F9D58"/>
            </a:solidFill>
            <a:prstDash val="sysDot"/>
            <a:tailEnd type="arrow"/>
          </a:ln>
        </p:spPr>
      </p:sp>
      <p:sp>
        <p:nvSpPr>
          <p:cNvPr id="70" name="Text 68"/>
          <p:cNvSpPr/>
          <p:nvPr/>
        </p:nvSpPr>
        <p:spPr>
          <a:xfrm>
            <a:off x="3520440" y="1636776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636E7B"/>
                </a:solidFill>
              </a:rPr>
              <a:t>score request</a:t>
            </a:r>
            <a:endParaRPr lang="en-US" sz="750" dirty="0"/>
          </a:p>
        </p:txBody>
      </p:sp>
      <p:sp>
        <p:nvSpPr>
          <p:cNvPr id="71" name="Shape 69"/>
          <p:cNvSpPr/>
          <p:nvPr/>
        </p:nvSpPr>
        <p:spPr>
          <a:xfrm>
            <a:off x="5212080" y="1243584"/>
            <a:ext cx="1371600" cy="2167128"/>
          </a:xfrm>
          <a:prstGeom prst="line">
            <a:avLst/>
          </a:prstGeom>
          <a:noFill/>
          <a:ln w="15240">
            <a:solidFill>
              <a:srgbClr val="0F9D58"/>
            </a:solidFill>
            <a:prstDash val="sysDot"/>
            <a:tailEnd type="arrow"/>
          </a:ln>
        </p:spPr>
      </p:sp>
      <p:sp>
        <p:nvSpPr>
          <p:cNvPr id="72" name="Text 70"/>
          <p:cNvSpPr/>
          <p:nvPr/>
        </p:nvSpPr>
        <p:spPr>
          <a:xfrm>
            <a:off x="5349240" y="2171700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636E7B"/>
                </a:solidFill>
              </a:rPr>
              <a:t>fetch cache</a:t>
            </a:r>
            <a:endParaRPr lang="en-US" sz="750" dirty="0"/>
          </a:p>
        </p:txBody>
      </p:sp>
      <p:sp>
        <p:nvSpPr>
          <p:cNvPr id="73" name="Shape 71"/>
          <p:cNvSpPr/>
          <p:nvPr/>
        </p:nvSpPr>
        <p:spPr>
          <a:xfrm>
            <a:off x="5212080" y="2340864"/>
            <a:ext cx="1371600" cy="0"/>
          </a:xfrm>
          <a:prstGeom prst="line">
            <a:avLst/>
          </a:prstGeom>
          <a:noFill/>
          <a:ln w="15240">
            <a:solidFill>
              <a:srgbClr val="F4B400"/>
            </a:solidFill>
            <a:prstDash val="sysDot"/>
            <a:tailEnd type="arrow"/>
          </a:ln>
        </p:spPr>
      </p:sp>
      <p:sp>
        <p:nvSpPr>
          <p:cNvPr id="74" name="Text 72"/>
          <p:cNvSpPr/>
          <p:nvPr/>
        </p:nvSpPr>
        <p:spPr>
          <a:xfrm>
            <a:off x="5349240" y="2185416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636E7B"/>
                </a:solidFill>
              </a:rPr>
              <a:t>similarity search</a:t>
            </a:r>
            <a:endParaRPr lang="en-US" sz="750" dirty="0"/>
          </a:p>
        </p:txBody>
      </p:sp>
      <p:sp>
        <p:nvSpPr>
          <p:cNvPr id="75" name="Shape 73"/>
          <p:cNvSpPr/>
          <p:nvPr/>
        </p:nvSpPr>
        <p:spPr>
          <a:xfrm>
            <a:off x="5212080" y="2468880"/>
            <a:ext cx="1371600" cy="749808"/>
          </a:xfrm>
          <a:prstGeom prst="line">
            <a:avLst/>
          </a:prstGeom>
          <a:noFill/>
          <a:ln w="15240">
            <a:solidFill>
              <a:srgbClr val="F4B400"/>
            </a:solidFill>
            <a:prstDash val="sysDot"/>
            <a:tailEnd type="arrow"/>
          </a:ln>
        </p:spPr>
      </p:sp>
      <p:sp>
        <p:nvSpPr>
          <p:cNvPr id="76" name="Shape 74"/>
          <p:cNvSpPr/>
          <p:nvPr/>
        </p:nvSpPr>
        <p:spPr>
          <a:xfrm>
            <a:off x="7726680" y="1527048"/>
            <a:ext cx="0" cy="530352"/>
          </a:xfrm>
          <a:prstGeom prst="line">
            <a:avLst/>
          </a:prstGeom>
          <a:noFill/>
          <a:ln w="15240">
            <a:solidFill>
              <a:srgbClr val="DB4437"/>
            </a:solidFill>
            <a:prstDash val="sysDot"/>
            <a:tailEnd type="arrow"/>
          </a:ln>
        </p:spPr>
      </p:sp>
      <p:sp>
        <p:nvSpPr>
          <p:cNvPr id="77" name="Text 75"/>
          <p:cNvSpPr/>
          <p:nvPr/>
        </p:nvSpPr>
        <p:spPr>
          <a:xfrm>
            <a:off x="7178040" y="1636776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636E7B"/>
                </a:solidFill>
              </a:rPr>
              <a:t>store vectors</a:t>
            </a:r>
            <a:endParaRPr lang="en-US" sz="750" dirty="0"/>
          </a:p>
        </p:txBody>
      </p:sp>
      <p:sp>
        <p:nvSpPr>
          <p:cNvPr id="78" name="Shape 76"/>
          <p:cNvSpPr/>
          <p:nvPr/>
        </p:nvSpPr>
        <p:spPr>
          <a:xfrm>
            <a:off x="2926080" y="3410712"/>
            <a:ext cx="-9144" cy="-786384"/>
          </a:xfrm>
          <a:prstGeom prst="line">
            <a:avLst/>
          </a:prstGeom>
          <a:noFill/>
          <a:ln w="15240">
            <a:solidFill>
              <a:srgbClr val="7C3AED"/>
            </a:solidFill>
            <a:prstDash val="sysDot"/>
            <a:tailEnd type="arrow"/>
          </a:ln>
        </p:spPr>
      </p:sp>
      <p:sp>
        <p:nvSpPr>
          <p:cNvPr id="79" name="Text 77"/>
          <p:cNvSpPr/>
          <p:nvPr/>
        </p:nvSpPr>
        <p:spPr>
          <a:xfrm>
            <a:off x="2372868" y="2862072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636E7B"/>
                </a:solidFill>
              </a:rPr>
              <a:t>trigger batch</a:t>
            </a:r>
            <a:endParaRPr lang="en-US" sz="750" dirty="0"/>
          </a:p>
        </p:txBody>
      </p:sp>
      <p:sp>
        <p:nvSpPr>
          <p:cNvPr id="80" name="Shape 78"/>
          <p:cNvSpPr/>
          <p:nvPr/>
        </p:nvSpPr>
        <p:spPr>
          <a:xfrm>
            <a:off x="5212080" y="3410712"/>
            <a:ext cx="1371600" cy="0"/>
          </a:xfrm>
          <a:prstGeom prst="line">
            <a:avLst/>
          </a:prstGeom>
          <a:noFill/>
          <a:ln w="15240">
            <a:solidFill>
              <a:srgbClr val="7C3AED"/>
            </a:solidFill>
            <a:prstDash val="sysDot"/>
            <a:tailEnd type="arrow"/>
          </a:ln>
        </p:spPr>
      </p:sp>
      <p:sp>
        <p:nvSpPr>
          <p:cNvPr id="81" name="Text 79"/>
          <p:cNvSpPr/>
          <p:nvPr/>
        </p:nvSpPr>
        <p:spPr>
          <a:xfrm>
            <a:off x="5349240" y="3255264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636E7B"/>
                </a:solidFill>
              </a:rPr>
              <a:t>write cache</a:t>
            </a:r>
            <a:endParaRPr lang="en-US" sz="750" dirty="0"/>
          </a:p>
        </p:txBody>
      </p:sp>
      <p:sp>
        <p:nvSpPr>
          <p:cNvPr id="82" name="Shape 80"/>
          <p:cNvSpPr/>
          <p:nvPr/>
        </p:nvSpPr>
        <p:spPr>
          <a:xfrm>
            <a:off x="1371600" y="1527048"/>
            <a:ext cx="0" cy="2240280"/>
          </a:xfrm>
          <a:prstGeom prst="line">
            <a:avLst/>
          </a:prstGeom>
          <a:noFill/>
          <a:ln w="15240">
            <a:solidFill>
              <a:srgbClr val="7C3AED"/>
            </a:solidFill>
            <a:prstDash val="sysDot"/>
            <a:tailEnd type="arrow"/>
          </a:ln>
        </p:spPr>
      </p:sp>
      <p:sp>
        <p:nvSpPr>
          <p:cNvPr id="83" name="Text 81"/>
          <p:cNvSpPr/>
          <p:nvPr/>
        </p:nvSpPr>
        <p:spPr>
          <a:xfrm>
            <a:off x="822960" y="2491740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636E7B"/>
                </a:solidFill>
              </a:rPr>
              <a:t>user signals</a:t>
            </a:r>
            <a:endParaRPr lang="en-US" sz="750" dirty="0"/>
          </a:p>
        </p:txBody>
      </p:sp>
      <p:sp>
        <p:nvSpPr>
          <p:cNvPr id="84" name="Shape 82"/>
          <p:cNvSpPr/>
          <p:nvPr/>
        </p:nvSpPr>
        <p:spPr>
          <a:xfrm>
            <a:off x="2514600" y="4050792"/>
            <a:ext cx="411480" cy="0"/>
          </a:xfrm>
          <a:prstGeom prst="line">
            <a:avLst/>
          </a:prstGeom>
          <a:noFill/>
          <a:ln w="15240">
            <a:solidFill>
              <a:srgbClr val="7C3AED"/>
            </a:solidFill>
            <a:prstDash val="sysDot"/>
            <a:tailEnd type="arrow"/>
          </a:ln>
        </p:spPr>
      </p:sp>
      <p:sp>
        <p:nvSpPr>
          <p:cNvPr id="85" name="Text 83"/>
          <p:cNvSpPr/>
          <p:nvPr/>
        </p:nvSpPr>
        <p:spPr>
          <a:xfrm>
            <a:off x="2171700" y="3895344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636E7B"/>
                </a:solidFill>
              </a:rPr>
              <a:t>feeds loop</a:t>
            </a:r>
            <a:endParaRPr lang="en-US" sz="750" dirty="0"/>
          </a:p>
        </p:txBody>
      </p:sp>
      <p:sp>
        <p:nvSpPr>
          <p:cNvPr id="86" name="Shape 84"/>
          <p:cNvSpPr/>
          <p:nvPr/>
        </p:nvSpPr>
        <p:spPr>
          <a:xfrm>
            <a:off x="8412480" y="1527048"/>
            <a:ext cx="0" cy="1600200"/>
          </a:xfrm>
          <a:prstGeom prst="line">
            <a:avLst/>
          </a:prstGeom>
          <a:noFill/>
          <a:ln w="15240">
            <a:solidFill>
              <a:srgbClr val="DB4437"/>
            </a:solidFill>
            <a:prstDash val="sysDot"/>
            <a:tailEnd type="arrow"/>
          </a:ln>
        </p:spPr>
      </p:sp>
      <p:sp>
        <p:nvSpPr>
          <p:cNvPr id="87" name="Text 85"/>
          <p:cNvSpPr/>
          <p:nvPr/>
        </p:nvSpPr>
        <p:spPr>
          <a:xfrm>
            <a:off x="5532120" y="2697480"/>
            <a:ext cx="914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636E7B"/>
                </a:solidFill>
              </a:rPr>
              <a:t>read profiles</a:t>
            </a:r>
            <a:endParaRPr lang="en-US" sz="7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D11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94360"/>
          </a:xfrm>
          <a:prstGeom prst="rect">
            <a:avLst/>
          </a:prstGeom>
          <a:solidFill>
            <a:srgbClr val="161B22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0"/>
            <a:ext cx="84124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FFFFFF"/>
                </a:solidFill>
              </a:rPr>
              <a:t>TWO-MODE TRIGGER DESIGN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365760" y="0"/>
            <a:ext cx="84124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8B949E"/>
                </a:solidFill>
              </a:rPr>
              <a:t>Speed + Freshness — without paying for both at once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274320" y="777240"/>
            <a:ext cx="4023360" cy="4160520"/>
          </a:xfrm>
          <a:prstGeom prst="rect">
            <a:avLst/>
          </a:prstGeom>
          <a:solidFill>
            <a:srgbClr val="161B22"/>
          </a:solidFill>
          <a:ln w="25400">
            <a:solidFill>
              <a:srgbClr val="7C3AED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274320" y="777240"/>
            <a:ext cx="4023360" cy="457200"/>
          </a:xfrm>
          <a:prstGeom prst="rect">
            <a:avLst/>
          </a:prstGeom>
          <a:solidFill>
            <a:srgbClr val="7C3AED"/>
          </a:solidFill>
          <a:ln/>
        </p:spPr>
      </p:sp>
      <p:sp>
        <p:nvSpPr>
          <p:cNvPr id="7" name="Text 5"/>
          <p:cNvSpPr/>
          <p:nvPr/>
        </p:nvSpPr>
        <p:spPr>
          <a:xfrm>
            <a:off x="320040" y="777240"/>
            <a:ext cx="3931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🌙  MODE 1: NIGHTLY PRE-COMPUTE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11480" y="1463040"/>
            <a:ext cx="256032" cy="256032"/>
          </a:xfrm>
          <a:prstGeom prst="ellipse">
            <a:avLst/>
          </a:prstGeom>
          <a:solidFill>
            <a:srgbClr val="7C3AED"/>
          </a:solidFill>
          <a:ln/>
        </p:spPr>
      </p:sp>
      <p:sp>
        <p:nvSpPr>
          <p:cNvPr id="9" name="Text 7"/>
          <p:cNvSpPr/>
          <p:nvPr/>
        </p:nvSpPr>
        <p:spPr>
          <a:xfrm>
            <a:off x="411480" y="1463040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</a:rPr>
              <a:t>1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749808" y="1417320"/>
            <a:ext cx="33832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1D5D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Cloud Scheduler triggers at midnight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411480" y="1956816"/>
            <a:ext cx="256032" cy="256032"/>
          </a:xfrm>
          <a:prstGeom prst="ellipse">
            <a:avLst/>
          </a:prstGeom>
          <a:solidFill>
            <a:srgbClr val="7C3AED"/>
          </a:solidFill>
          <a:ln/>
        </p:spPr>
      </p:sp>
      <p:sp>
        <p:nvSpPr>
          <p:cNvPr id="12" name="Text 10"/>
          <p:cNvSpPr/>
          <p:nvPr/>
        </p:nvSpPr>
        <p:spPr>
          <a:xfrm>
            <a:off x="411480" y="1956816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</a:rPr>
              <a:t>2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749808" y="1911096"/>
            <a:ext cx="33832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1D5D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Cloud Function calls Rec Engine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411480" y="2450592"/>
            <a:ext cx="256032" cy="256032"/>
          </a:xfrm>
          <a:prstGeom prst="ellipse">
            <a:avLst/>
          </a:prstGeom>
          <a:solidFill>
            <a:srgbClr val="7C3AED"/>
          </a:solidFill>
          <a:ln/>
        </p:spPr>
      </p:sp>
      <p:sp>
        <p:nvSpPr>
          <p:cNvPr id="15" name="Text 13"/>
          <p:cNvSpPr/>
          <p:nvPr/>
        </p:nvSpPr>
        <p:spPr>
          <a:xfrm>
            <a:off x="411480" y="2450592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</a:rPr>
              <a:t>3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749808" y="2404872"/>
            <a:ext cx="33832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1D5D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Engine reads all 1,000 employee profiles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411480" y="2944368"/>
            <a:ext cx="256032" cy="256032"/>
          </a:xfrm>
          <a:prstGeom prst="ellipse">
            <a:avLst/>
          </a:prstGeom>
          <a:solidFill>
            <a:srgbClr val="7C3AED"/>
          </a:solidFill>
          <a:ln/>
        </p:spPr>
      </p:sp>
      <p:sp>
        <p:nvSpPr>
          <p:cNvPr id="18" name="Text 16"/>
          <p:cNvSpPr/>
          <p:nvPr/>
        </p:nvSpPr>
        <p:spPr>
          <a:xfrm>
            <a:off x="411480" y="2944368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</a:rPr>
              <a:t>4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749808" y="2898648"/>
            <a:ext cx="33832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1D5D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Queries Vector Store → top-K similar content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411480" y="3438144"/>
            <a:ext cx="256032" cy="256032"/>
          </a:xfrm>
          <a:prstGeom prst="ellipse">
            <a:avLst/>
          </a:prstGeom>
          <a:solidFill>
            <a:srgbClr val="7C3AED"/>
          </a:solidFill>
          <a:ln/>
        </p:spPr>
      </p:sp>
      <p:sp>
        <p:nvSpPr>
          <p:cNvPr id="21" name="Text 19"/>
          <p:cNvSpPr/>
          <p:nvPr/>
        </p:nvSpPr>
        <p:spPr>
          <a:xfrm>
            <a:off x="411480" y="3438144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</a:rPr>
              <a:t>5</a:t>
            </a:r>
            <a:endParaRPr lang="en-US" sz="900" dirty="0"/>
          </a:p>
        </p:txBody>
      </p:sp>
      <p:sp>
        <p:nvSpPr>
          <p:cNvPr id="22" name="Text 20"/>
          <p:cNvSpPr/>
          <p:nvPr/>
        </p:nvSpPr>
        <p:spPr>
          <a:xfrm>
            <a:off x="749808" y="3392424"/>
            <a:ext cx="33832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1D5D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Applies 50/30/20 scoring formula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411480" y="3931920"/>
            <a:ext cx="256032" cy="256032"/>
          </a:xfrm>
          <a:prstGeom prst="ellipse">
            <a:avLst/>
          </a:prstGeom>
          <a:solidFill>
            <a:srgbClr val="7C3AED"/>
          </a:solidFill>
          <a:ln/>
        </p:spPr>
      </p:sp>
      <p:sp>
        <p:nvSpPr>
          <p:cNvPr id="24" name="Text 22"/>
          <p:cNvSpPr/>
          <p:nvPr/>
        </p:nvSpPr>
        <p:spPr>
          <a:xfrm>
            <a:off x="411480" y="3931920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</a:rPr>
              <a:t>6</a:t>
            </a:r>
            <a:endParaRPr lang="en-US" sz="900" dirty="0"/>
          </a:p>
        </p:txBody>
      </p:sp>
      <p:sp>
        <p:nvSpPr>
          <p:cNvPr id="25" name="Text 23"/>
          <p:cNvSpPr/>
          <p:nvPr/>
        </p:nvSpPr>
        <p:spPr>
          <a:xfrm>
            <a:off x="749808" y="3886200"/>
            <a:ext cx="33832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1D5D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Writes ranked list back to Firestore cache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274320" y="4480560"/>
            <a:ext cx="4023360" cy="347472"/>
          </a:xfrm>
          <a:prstGeom prst="rect">
            <a:avLst/>
          </a:prstGeom>
          <a:solidFill>
            <a:srgbClr val="7C3AED">
              <a:alpha val="20000"/>
            </a:srgbClr>
          </a:solidFill>
          <a:ln/>
        </p:spPr>
      </p:sp>
      <p:sp>
        <p:nvSpPr>
          <p:cNvPr id="27" name="Text 25"/>
          <p:cNvSpPr/>
          <p:nvPr/>
        </p:nvSpPr>
        <p:spPr>
          <a:xfrm>
            <a:off x="320040" y="4480560"/>
            <a:ext cx="39319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7C3AED"/>
                </a:solidFill>
              </a:rPr>
              <a:t>⚡ Result: Instant load for 1,000 employees each morning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4846320" y="777240"/>
            <a:ext cx="4023360" cy="4160520"/>
          </a:xfrm>
          <a:prstGeom prst="rect">
            <a:avLst/>
          </a:prstGeom>
          <a:solidFill>
            <a:srgbClr val="161B22"/>
          </a:solidFill>
          <a:ln w="25400">
            <a:solidFill>
              <a:srgbClr val="1A73E8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4846320" y="777240"/>
            <a:ext cx="4023360" cy="457200"/>
          </a:xfrm>
          <a:prstGeom prst="rect">
            <a:avLst/>
          </a:prstGeom>
          <a:solidFill>
            <a:srgbClr val="1A73E8"/>
          </a:solidFill>
          <a:ln/>
        </p:spPr>
      </p:sp>
      <p:sp>
        <p:nvSpPr>
          <p:cNvPr id="30" name="Text 28"/>
          <p:cNvSpPr/>
          <p:nvPr/>
        </p:nvSpPr>
        <p:spPr>
          <a:xfrm>
            <a:off x="4892040" y="777240"/>
            <a:ext cx="3931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⚡  MODE 2: ON-DEMAND REFRESH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4983480" y="1463040"/>
            <a:ext cx="256032" cy="256032"/>
          </a:xfrm>
          <a:prstGeom prst="ellipse">
            <a:avLst/>
          </a:prstGeom>
          <a:solidFill>
            <a:srgbClr val="1A73E8"/>
          </a:solidFill>
          <a:ln/>
        </p:spPr>
      </p:sp>
      <p:sp>
        <p:nvSpPr>
          <p:cNvPr id="32" name="Text 30"/>
          <p:cNvSpPr/>
          <p:nvPr/>
        </p:nvSpPr>
        <p:spPr>
          <a:xfrm>
            <a:off x="4983480" y="1463040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</a:rPr>
              <a:t>1</a:t>
            </a:r>
            <a:endParaRPr lang="en-US" sz="900" dirty="0"/>
          </a:p>
        </p:txBody>
      </p:sp>
      <p:sp>
        <p:nvSpPr>
          <p:cNvPr id="33" name="Text 31"/>
          <p:cNvSpPr/>
          <p:nvPr/>
        </p:nvSpPr>
        <p:spPr>
          <a:xfrm>
            <a:off x="5321808" y="1417320"/>
            <a:ext cx="33832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1D5D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Employee completes onboarding quiz</a:t>
            </a:r>
            <a:endParaRPr lang="en-US" sz="1100" dirty="0"/>
          </a:p>
        </p:txBody>
      </p:sp>
      <p:sp>
        <p:nvSpPr>
          <p:cNvPr id="34" name="Shape 32"/>
          <p:cNvSpPr/>
          <p:nvPr/>
        </p:nvSpPr>
        <p:spPr>
          <a:xfrm>
            <a:off x="4983480" y="1956816"/>
            <a:ext cx="256032" cy="256032"/>
          </a:xfrm>
          <a:prstGeom prst="ellipse">
            <a:avLst/>
          </a:prstGeom>
          <a:solidFill>
            <a:srgbClr val="1A73E8"/>
          </a:solidFill>
          <a:ln/>
        </p:spPr>
      </p:sp>
      <p:sp>
        <p:nvSpPr>
          <p:cNvPr id="35" name="Text 33"/>
          <p:cNvSpPr/>
          <p:nvPr/>
        </p:nvSpPr>
        <p:spPr>
          <a:xfrm>
            <a:off x="4983480" y="1956816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</a:rPr>
              <a:t>2</a:t>
            </a:r>
            <a:endParaRPr lang="en-US" sz="900" dirty="0"/>
          </a:p>
        </p:txBody>
      </p:sp>
      <p:sp>
        <p:nvSpPr>
          <p:cNvPr id="36" name="Text 34"/>
          <p:cNvSpPr/>
          <p:nvPr/>
        </p:nvSpPr>
        <p:spPr>
          <a:xfrm>
            <a:off x="5321808" y="1911096"/>
            <a:ext cx="33832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1D5D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OR: Cached recs are stale / user refreshes</a:t>
            </a:r>
            <a:endParaRPr lang="en-US" sz="1100" dirty="0"/>
          </a:p>
        </p:txBody>
      </p:sp>
      <p:sp>
        <p:nvSpPr>
          <p:cNvPr id="37" name="Shape 35"/>
          <p:cNvSpPr/>
          <p:nvPr/>
        </p:nvSpPr>
        <p:spPr>
          <a:xfrm>
            <a:off x="4983480" y="2450592"/>
            <a:ext cx="256032" cy="256032"/>
          </a:xfrm>
          <a:prstGeom prst="ellipse">
            <a:avLst/>
          </a:prstGeom>
          <a:solidFill>
            <a:srgbClr val="1A73E8"/>
          </a:solidFill>
          <a:ln/>
        </p:spPr>
      </p:sp>
      <p:sp>
        <p:nvSpPr>
          <p:cNvPr id="38" name="Text 36"/>
          <p:cNvSpPr/>
          <p:nvPr/>
        </p:nvSpPr>
        <p:spPr>
          <a:xfrm>
            <a:off x="4983480" y="2450592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</a:rPr>
              <a:t>3</a:t>
            </a:r>
            <a:endParaRPr lang="en-US" sz="900" dirty="0"/>
          </a:p>
        </p:txBody>
      </p:sp>
      <p:sp>
        <p:nvSpPr>
          <p:cNvPr id="39" name="Text 37"/>
          <p:cNvSpPr/>
          <p:nvPr/>
        </p:nvSpPr>
        <p:spPr>
          <a:xfrm>
            <a:off x="5321808" y="2404872"/>
            <a:ext cx="33832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1D5D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 calls API Gateway → Cloud Run</a:t>
            </a:r>
            <a:endParaRPr lang="en-US" sz="1100" dirty="0"/>
          </a:p>
        </p:txBody>
      </p:sp>
      <p:sp>
        <p:nvSpPr>
          <p:cNvPr id="40" name="Shape 38"/>
          <p:cNvSpPr/>
          <p:nvPr/>
        </p:nvSpPr>
        <p:spPr>
          <a:xfrm>
            <a:off x="4983480" y="2944368"/>
            <a:ext cx="256032" cy="256032"/>
          </a:xfrm>
          <a:prstGeom prst="ellipse">
            <a:avLst/>
          </a:prstGeom>
          <a:solidFill>
            <a:srgbClr val="1A73E8"/>
          </a:solidFill>
          <a:ln/>
        </p:spPr>
      </p:sp>
      <p:sp>
        <p:nvSpPr>
          <p:cNvPr id="41" name="Text 39"/>
          <p:cNvSpPr/>
          <p:nvPr/>
        </p:nvSpPr>
        <p:spPr>
          <a:xfrm>
            <a:off x="4983480" y="2944368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</a:rPr>
              <a:t>4</a:t>
            </a:r>
            <a:endParaRPr lang="en-US" sz="900" dirty="0"/>
          </a:p>
        </p:txBody>
      </p:sp>
      <p:sp>
        <p:nvSpPr>
          <p:cNvPr id="42" name="Text 40"/>
          <p:cNvSpPr/>
          <p:nvPr/>
        </p:nvSpPr>
        <p:spPr>
          <a:xfrm>
            <a:off x="5321808" y="2898648"/>
            <a:ext cx="33832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1D5D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 Engine runs full scoring in real time</a:t>
            </a:r>
            <a:endParaRPr lang="en-US" sz="1100" dirty="0"/>
          </a:p>
        </p:txBody>
      </p:sp>
      <p:sp>
        <p:nvSpPr>
          <p:cNvPr id="43" name="Shape 41"/>
          <p:cNvSpPr/>
          <p:nvPr/>
        </p:nvSpPr>
        <p:spPr>
          <a:xfrm>
            <a:off x="4983480" y="3438144"/>
            <a:ext cx="256032" cy="256032"/>
          </a:xfrm>
          <a:prstGeom prst="ellipse">
            <a:avLst/>
          </a:prstGeom>
          <a:solidFill>
            <a:srgbClr val="1A73E8"/>
          </a:solidFill>
          <a:ln/>
        </p:spPr>
      </p:sp>
      <p:sp>
        <p:nvSpPr>
          <p:cNvPr id="44" name="Text 42"/>
          <p:cNvSpPr/>
          <p:nvPr/>
        </p:nvSpPr>
        <p:spPr>
          <a:xfrm>
            <a:off x="4983480" y="3438144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</a:rPr>
              <a:t>5</a:t>
            </a:r>
            <a:endParaRPr lang="en-US" sz="900" dirty="0"/>
          </a:p>
        </p:txBody>
      </p:sp>
      <p:sp>
        <p:nvSpPr>
          <p:cNvPr id="45" name="Text 43"/>
          <p:cNvSpPr/>
          <p:nvPr/>
        </p:nvSpPr>
        <p:spPr>
          <a:xfrm>
            <a:off x="5321808" y="3392424"/>
            <a:ext cx="33832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1D5D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Returns fresh ranked results to employee</a:t>
            </a:r>
            <a:endParaRPr lang="en-US" sz="1100" dirty="0"/>
          </a:p>
        </p:txBody>
      </p:sp>
      <p:sp>
        <p:nvSpPr>
          <p:cNvPr id="46" name="Shape 44"/>
          <p:cNvSpPr/>
          <p:nvPr/>
        </p:nvSpPr>
        <p:spPr>
          <a:xfrm>
            <a:off x="4983480" y="3931920"/>
            <a:ext cx="256032" cy="256032"/>
          </a:xfrm>
          <a:prstGeom prst="ellipse">
            <a:avLst/>
          </a:prstGeom>
          <a:solidFill>
            <a:srgbClr val="1A73E8"/>
          </a:solidFill>
          <a:ln/>
        </p:spPr>
      </p:sp>
      <p:sp>
        <p:nvSpPr>
          <p:cNvPr id="47" name="Text 45"/>
          <p:cNvSpPr/>
          <p:nvPr/>
        </p:nvSpPr>
        <p:spPr>
          <a:xfrm>
            <a:off x="4983480" y="3931920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</a:rPr>
              <a:t>6</a:t>
            </a:r>
            <a:endParaRPr lang="en-US" sz="900" dirty="0"/>
          </a:p>
        </p:txBody>
      </p:sp>
      <p:sp>
        <p:nvSpPr>
          <p:cNvPr id="48" name="Text 46"/>
          <p:cNvSpPr/>
          <p:nvPr/>
        </p:nvSpPr>
        <p:spPr>
          <a:xfrm>
            <a:off x="5321808" y="3886200"/>
            <a:ext cx="33832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1D5D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 cached in Firestore for next visit</a:t>
            </a:r>
            <a:endParaRPr lang="en-US" sz="1100" dirty="0"/>
          </a:p>
        </p:txBody>
      </p:sp>
      <p:sp>
        <p:nvSpPr>
          <p:cNvPr id="49" name="Shape 47"/>
          <p:cNvSpPr/>
          <p:nvPr/>
        </p:nvSpPr>
        <p:spPr>
          <a:xfrm>
            <a:off x="4846320" y="4480560"/>
            <a:ext cx="4023360" cy="347472"/>
          </a:xfrm>
          <a:prstGeom prst="rect">
            <a:avLst/>
          </a:prstGeom>
          <a:solidFill>
            <a:srgbClr val="1A73E8">
              <a:alpha val="20000"/>
            </a:srgbClr>
          </a:solidFill>
          <a:ln/>
        </p:spPr>
      </p:sp>
      <p:sp>
        <p:nvSpPr>
          <p:cNvPr id="50" name="Text 48"/>
          <p:cNvSpPr/>
          <p:nvPr/>
        </p:nvSpPr>
        <p:spPr>
          <a:xfrm>
            <a:off x="4892040" y="4480560"/>
            <a:ext cx="39319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A73E8"/>
                </a:solidFill>
              </a:rPr>
              <a:t>🔄 Triggered only when needed — no idle AI compute cost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6F8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94360"/>
          </a:xfrm>
          <a:prstGeom prst="rect">
            <a:avLst/>
          </a:prstGeom>
          <a:solidFill>
            <a:srgbClr val="0F9D58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0"/>
            <a:ext cx="84124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FFFFFF"/>
                </a:solidFill>
              </a:rPr>
              <a:t>DATA FLOW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365760" y="0"/>
            <a:ext cx="84124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C8F0DC"/>
                </a:solidFill>
              </a:rPr>
              <a:t>Three key journeys through the system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182880" y="731520"/>
            <a:ext cx="2834640" cy="4251960"/>
          </a:xfrm>
          <a:prstGeom prst="rect">
            <a:avLst/>
          </a:prstGeom>
          <a:solidFill>
            <a:srgbClr val="FFFFFF"/>
          </a:solidFill>
          <a:ln w="25400">
            <a:solidFill>
              <a:srgbClr val="1A73E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8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182880" y="731520"/>
            <a:ext cx="2834640" cy="502920"/>
          </a:xfrm>
          <a:prstGeom prst="rect">
            <a:avLst/>
          </a:prstGeom>
          <a:solidFill>
            <a:srgbClr val="1A73E8"/>
          </a:solidFill>
          <a:ln/>
        </p:spPr>
      </p:sp>
      <p:sp>
        <p:nvSpPr>
          <p:cNvPr id="7" name="Text 5"/>
          <p:cNvSpPr/>
          <p:nvPr/>
        </p:nvSpPr>
        <p:spPr>
          <a:xfrm>
            <a:off x="274320" y="731520"/>
            <a:ext cx="2651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🎓  Employee Onboarding (Cold Start)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292608" y="1353312"/>
            <a:ext cx="274320" cy="274320"/>
          </a:xfrm>
          <a:prstGeom prst="ellipse">
            <a:avLst/>
          </a:prstGeom>
          <a:solidFill>
            <a:srgbClr val="1A73E8">
              <a:alpha val="80000"/>
            </a:srgbClr>
          </a:solidFill>
          <a:ln/>
        </p:spPr>
      </p:sp>
      <p:sp>
        <p:nvSpPr>
          <p:cNvPr id="9" name="Text 7"/>
          <p:cNvSpPr/>
          <p:nvPr/>
        </p:nvSpPr>
        <p:spPr>
          <a:xfrm>
            <a:off x="292608" y="1353312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</a:rPr>
              <a:t>1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640080" y="1316736"/>
            <a:ext cx="226771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Employee completes onboarding quiz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402336" y="1627632"/>
            <a:ext cx="0" cy="384048"/>
          </a:xfrm>
          <a:prstGeom prst="line">
            <a:avLst/>
          </a:prstGeom>
          <a:noFill/>
          <a:ln w="12700">
            <a:solidFill>
              <a:srgbClr val="1A73E8">
                <a:alpha val="50000"/>
              </a:srgbClr>
            </a:solidFill>
            <a:prstDash val="sysDot"/>
          </a:ln>
        </p:spPr>
      </p:sp>
      <p:sp>
        <p:nvSpPr>
          <p:cNvPr id="12" name="Shape 10"/>
          <p:cNvSpPr/>
          <p:nvPr/>
        </p:nvSpPr>
        <p:spPr>
          <a:xfrm>
            <a:off x="292608" y="2011680"/>
            <a:ext cx="274320" cy="274320"/>
          </a:xfrm>
          <a:prstGeom prst="ellipse">
            <a:avLst/>
          </a:prstGeom>
          <a:solidFill>
            <a:srgbClr val="1A73E8">
              <a:alpha val="80000"/>
            </a:srgbClr>
          </a:solidFill>
          <a:ln/>
        </p:spPr>
      </p:sp>
      <p:sp>
        <p:nvSpPr>
          <p:cNvPr id="13" name="Text 11"/>
          <p:cNvSpPr/>
          <p:nvPr/>
        </p:nvSpPr>
        <p:spPr>
          <a:xfrm>
            <a:off x="292608" y="201168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</a:rPr>
              <a:t>2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640080" y="1975104"/>
            <a:ext cx="226771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Interests captured: free text + category picks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402336" y="2286000"/>
            <a:ext cx="0" cy="384048"/>
          </a:xfrm>
          <a:prstGeom prst="line">
            <a:avLst/>
          </a:prstGeom>
          <a:noFill/>
          <a:ln w="12700">
            <a:solidFill>
              <a:srgbClr val="1A73E8">
                <a:alpha val="50000"/>
              </a:srgbClr>
            </a:solidFill>
            <a:prstDash val="sysDot"/>
          </a:ln>
        </p:spPr>
      </p:sp>
      <p:sp>
        <p:nvSpPr>
          <p:cNvPr id="16" name="Shape 14"/>
          <p:cNvSpPr/>
          <p:nvPr/>
        </p:nvSpPr>
        <p:spPr>
          <a:xfrm>
            <a:off x="292608" y="2670048"/>
            <a:ext cx="274320" cy="274320"/>
          </a:xfrm>
          <a:prstGeom prst="ellipse">
            <a:avLst/>
          </a:prstGeom>
          <a:solidFill>
            <a:srgbClr val="1A73E8">
              <a:alpha val="80000"/>
            </a:srgbClr>
          </a:solidFill>
          <a:ln/>
        </p:spPr>
      </p:sp>
      <p:sp>
        <p:nvSpPr>
          <p:cNvPr id="17" name="Text 15"/>
          <p:cNvSpPr/>
          <p:nvPr/>
        </p:nvSpPr>
        <p:spPr>
          <a:xfrm>
            <a:off x="292608" y="267004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</a:rPr>
              <a:t>3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640080" y="2633472"/>
            <a:ext cx="226771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Vertex AI generates embedding vector</a:t>
            </a:r>
            <a:endParaRPr lang="en-US" sz="1050" dirty="0"/>
          </a:p>
        </p:txBody>
      </p:sp>
      <p:sp>
        <p:nvSpPr>
          <p:cNvPr id="19" name="Shape 17"/>
          <p:cNvSpPr/>
          <p:nvPr/>
        </p:nvSpPr>
        <p:spPr>
          <a:xfrm>
            <a:off x="402336" y="2944368"/>
            <a:ext cx="0" cy="384048"/>
          </a:xfrm>
          <a:prstGeom prst="line">
            <a:avLst/>
          </a:prstGeom>
          <a:noFill/>
          <a:ln w="12700">
            <a:solidFill>
              <a:srgbClr val="1A73E8">
                <a:alpha val="50000"/>
              </a:srgbClr>
            </a:solidFill>
            <a:prstDash val="sysDot"/>
          </a:ln>
        </p:spPr>
      </p:sp>
      <p:sp>
        <p:nvSpPr>
          <p:cNvPr id="20" name="Shape 18"/>
          <p:cNvSpPr/>
          <p:nvPr/>
        </p:nvSpPr>
        <p:spPr>
          <a:xfrm>
            <a:off x="292608" y="3328416"/>
            <a:ext cx="274320" cy="274320"/>
          </a:xfrm>
          <a:prstGeom prst="ellipse">
            <a:avLst/>
          </a:prstGeom>
          <a:solidFill>
            <a:srgbClr val="1A73E8">
              <a:alpha val="80000"/>
            </a:srgbClr>
          </a:solidFill>
          <a:ln/>
        </p:spPr>
      </p:sp>
      <p:sp>
        <p:nvSpPr>
          <p:cNvPr id="21" name="Text 19"/>
          <p:cNvSpPr/>
          <p:nvPr/>
        </p:nvSpPr>
        <p:spPr>
          <a:xfrm>
            <a:off x="292608" y="3328416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</a:rPr>
              <a:t>4</a:t>
            </a:r>
            <a:endParaRPr lang="en-US" sz="900" dirty="0"/>
          </a:p>
        </p:txBody>
      </p:sp>
      <p:sp>
        <p:nvSpPr>
          <p:cNvPr id="22" name="Text 20"/>
          <p:cNvSpPr/>
          <p:nvPr/>
        </p:nvSpPr>
        <p:spPr>
          <a:xfrm>
            <a:off x="640080" y="3291840"/>
            <a:ext cx="226771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Profile stored in Firestore</a:t>
            </a:r>
            <a:endParaRPr lang="en-US" sz="1050" dirty="0"/>
          </a:p>
        </p:txBody>
      </p:sp>
      <p:sp>
        <p:nvSpPr>
          <p:cNvPr id="23" name="Shape 21"/>
          <p:cNvSpPr/>
          <p:nvPr/>
        </p:nvSpPr>
        <p:spPr>
          <a:xfrm>
            <a:off x="402336" y="3602736"/>
            <a:ext cx="0" cy="384048"/>
          </a:xfrm>
          <a:prstGeom prst="line">
            <a:avLst/>
          </a:prstGeom>
          <a:noFill/>
          <a:ln w="12700">
            <a:solidFill>
              <a:srgbClr val="1A73E8">
                <a:alpha val="50000"/>
              </a:srgbClr>
            </a:solidFill>
            <a:prstDash val="sysDot"/>
          </a:ln>
        </p:spPr>
      </p:sp>
      <p:sp>
        <p:nvSpPr>
          <p:cNvPr id="24" name="Shape 22"/>
          <p:cNvSpPr/>
          <p:nvPr/>
        </p:nvSpPr>
        <p:spPr>
          <a:xfrm>
            <a:off x="292608" y="3986784"/>
            <a:ext cx="274320" cy="274320"/>
          </a:xfrm>
          <a:prstGeom prst="ellipse">
            <a:avLst/>
          </a:prstGeom>
          <a:solidFill>
            <a:srgbClr val="1A73E8">
              <a:alpha val="80000"/>
            </a:srgbClr>
          </a:solidFill>
          <a:ln/>
        </p:spPr>
      </p:sp>
      <p:sp>
        <p:nvSpPr>
          <p:cNvPr id="25" name="Text 23"/>
          <p:cNvSpPr/>
          <p:nvPr/>
        </p:nvSpPr>
        <p:spPr>
          <a:xfrm>
            <a:off x="292608" y="3986784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</a:rPr>
              <a:t>5</a:t>
            </a:r>
            <a:endParaRPr lang="en-US" sz="900" dirty="0"/>
          </a:p>
        </p:txBody>
      </p:sp>
      <p:sp>
        <p:nvSpPr>
          <p:cNvPr id="26" name="Text 24"/>
          <p:cNvSpPr/>
          <p:nvPr/>
        </p:nvSpPr>
        <p:spPr>
          <a:xfrm>
            <a:off x="640080" y="3950208"/>
            <a:ext cx="226771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On-demand rec computed &amp; cached immediately</a:t>
            </a:r>
            <a:endParaRPr lang="en-US" sz="1050" dirty="0"/>
          </a:p>
        </p:txBody>
      </p:sp>
      <p:sp>
        <p:nvSpPr>
          <p:cNvPr id="27" name="Shape 25"/>
          <p:cNvSpPr/>
          <p:nvPr/>
        </p:nvSpPr>
        <p:spPr>
          <a:xfrm>
            <a:off x="3172968" y="731520"/>
            <a:ext cx="2834640" cy="4251960"/>
          </a:xfrm>
          <a:prstGeom prst="rect">
            <a:avLst/>
          </a:prstGeom>
          <a:solidFill>
            <a:srgbClr val="FFFFFF"/>
          </a:solidFill>
          <a:ln w="25400">
            <a:solidFill>
              <a:srgbClr val="0F9D5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8000"/>
              </a:srgbClr>
            </a:outerShdw>
          </a:effectLst>
        </p:spPr>
      </p:sp>
      <p:sp>
        <p:nvSpPr>
          <p:cNvPr id="28" name="Shape 26"/>
          <p:cNvSpPr/>
          <p:nvPr/>
        </p:nvSpPr>
        <p:spPr>
          <a:xfrm>
            <a:off x="3172968" y="731520"/>
            <a:ext cx="2834640" cy="502920"/>
          </a:xfrm>
          <a:prstGeom prst="rect">
            <a:avLst/>
          </a:prstGeom>
          <a:solidFill>
            <a:srgbClr val="0F9D58"/>
          </a:solidFill>
          <a:ln/>
        </p:spPr>
      </p:sp>
      <p:sp>
        <p:nvSpPr>
          <p:cNvPr id="29" name="Text 27"/>
          <p:cNvSpPr/>
          <p:nvPr/>
        </p:nvSpPr>
        <p:spPr>
          <a:xfrm>
            <a:off x="3264408" y="731520"/>
            <a:ext cx="2651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📄  Content Ingestion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3282696" y="1353312"/>
            <a:ext cx="274320" cy="274320"/>
          </a:xfrm>
          <a:prstGeom prst="ellipse">
            <a:avLst/>
          </a:prstGeom>
          <a:solidFill>
            <a:srgbClr val="0F9D58">
              <a:alpha val="80000"/>
            </a:srgbClr>
          </a:solidFill>
          <a:ln/>
        </p:spPr>
      </p:sp>
      <p:sp>
        <p:nvSpPr>
          <p:cNvPr id="31" name="Text 29"/>
          <p:cNvSpPr/>
          <p:nvPr/>
        </p:nvSpPr>
        <p:spPr>
          <a:xfrm>
            <a:off x="3282696" y="1353312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</a:rPr>
              <a:t>1</a:t>
            </a:r>
            <a:endParaRPr lang="en-US" sz="900" dirty="0"/>
          </a:p>
        </p:txBody>
      </p:sp>
      <p:sp>
        <p:nvSpPr>
          <p:cNvPr id="32" name="Text 30"/>
          <p:cNvSpPr/>
          <p:nvPr/>
        </p:nvSpPr>
        <p:spPr>
          <a:xfrm>
            <a:off x="3630168" y="1316736"/>
            <a:ext cx="226771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New content added to platform</a:t>
            </a:r>
            <a:endParaRPr lang="en-US" sz="1050" dirty="0"/>
          </a:p>
        </p:txBody>
      </p:sp>
      <p:sp>
        <p:nvSpPr>
          <p:cNvPr id="33" name="Shape 31"/>
          <p:cNvSpPr/>
          <p:nvPr/>
        </p:nvSpPr>
        <p:spPr>
          <a:xfrm>
            <a:off x="3392424" y="1627632"/>
            <a:ext cx="0" cy="384048"/>
          </a:xfrm>
          <a:prstGeom prst="line">
            <a:avLst/>
          </a:prstGeom>
          <a:noFill/>
          <a:ln w="12700">
            <a:solidFill>
              <a:srgbClr val="0F9D58">
                <a:alpha val="50000"/>
              </a:srgbClr>
            </a:solidFill>
            <a:prstDash val="sysDot"/>
          </a:ln>
        </p:spPr>
      </p:sp>
      <p:sp>
        <p:nvSpPr>
          <p:cNvPr id="34" name="Shape 32"/>
          <p:cNvSpPr/>
          <p:nvPr/>
        </p:nvSpPr>
        <p:spPr>
          <a:xfrm>
            <a:off x="3282696" y="2011680"/>
            <a:ext cx="274320" cy="274320"/>
          </a:xfrm>
          <a:prstGeom prst="ellipse">
            <a:avLst/>
          </a:prstGeom>
          <a:solidFill>
            <a:srgbClr val="0F9D58">
              <a:alpha val="80000"/>
            </a:srgbClr>
          </a:solidFill>
          <a:ln/>
        </p:spPr>
      </p:sp>
      <p:sp>
        <p:nvSpPr>
          <p:cNvPr id="35" name="Text 33"/>
          <p:cNvSpPr/>
          <p:nvPr/>
        </p:nvSpPr>
        <p:spPr>
          <a:xfrm>
            <a:off x="3282696" y="201168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</a:rPr>
              <a:t>2</a:t>
            </a:r>
            <a:endParaRPr lang="en-US" sz="900" dirty="0"/>
          </a:p>
        </p:txBody>
      </p:sp>
      <p:sp>
        <p:nvSpPr>
          <p:cNvPr id="36" name="Text 34"/>
          <p:cNvSpPr/>
          <p:nvPr/>
        </p:nvSpPr>
        <p:spPr>
          <a:xfrm>
            <a:off x="3630168" y="1975104"/>
            <a:ext cx="226771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Description text sent to Vertex AI</a:t>
            </a:r>
            <a:endParaRPr lang="en-US" sz="1050" dirty="0"/>
          </a:p>
        </p:txBody>
      </p:sp>
      <p:sp>
        <p:nvSpPr>
          <p:cNvPr id="37" name="Shape 35"/>
          <p:cNvSpPr/>
          <p:nvPr/>
        </p:nvSpPr>
        <p:spPr>
          <a:xfrm>
            <a:off x="3392424" y="2286000"/>
            <a:ext cx="0" cy="384048"/>
          </a:xfrm>
          <a:prstGeom prst="line">
            <a:avLst/>
          </a:prstGeom>
          <a:noFill/>
          <a:ln w="12700">
            <a:solidFill>
              <a:srgbClr val="0F9D58">
                <a:alpha val="50000"/>
              </a:srgbClr>
            </a:solidFill>
            <a:prstDash val="sysDot"/>
          </a:ln>
        </p:spPr>
      </p:sp>
      <p:sp>
        <p:nvSpPr>
          <p:cNvPr id="38" name="Shape 36"/>
          <p:cNvSpPr/>
          <p:nvPr/>
        </p:nvSpPr>
        <p:spPr>
          <a:xfrm>
            <a:off x="3282696" y="2670048"/>
            <a:ext cx="274320" cy="274320"/>
          </a:xfrm>
          <a:prstGeom prst="ellipse">
            <a:avLst/>
          </a:prstGeom>
          <a:solidFill>
            <a:srgbClr val="0F9D58">
              <a:alpha val="80000"/>
            </a:srgbClr>
          </a:solidFill>
          <a:ln/>
        </p:spPr>
      </p:sp>
      <p:sp>
        <p:nvSpPr>
          <p:cNvPr id="39" name="Text 37"/>
          <p:cNvSpPr/>
          <p:nvPr/>
        </p:nvSpPr>
        <p:spPr>
          <a:xfrm>
            <a:off x="3282696" y="267004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</a:rPr>
              <a:t>3</a:t>
            </a:r>
            <a:endParaRPr lang="en-US" sz="900" dirty="0"/>
          </a:p>
        </p:txBody>
      </p:sp>
      <p:sp>
        <p:nvSpPr>
          <p:cNvPr id="40" name="Text 38"/>
          <p:cNvSpPr/>
          <p:nvPr/>
        </p:nvSpPr>
        <p:spPr>
          <a:xfrm>
            <a:off x="3630168" y="2633472"/>
            <a:ext cx="226771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Embedding generated &amp; stored in Vector Search</a:t>
            </a:r>
            <a:endParaRPr lang="en-US" sz="1050" dirty="0"/>
          </a:p>
        </p:txBody>
      </p:sp>
      <p:sp>
        <p:nvSpPr>
          <p:cNvPr id="41" name="Shape 39"/>
          <p:cNvSpPr/>
          <p:nvPr/>
        </p:nvSpPr>
        <p:spPr>
          <a:xfrm>
            <a:off x="3392424" y="2944368"/>
            <a:ext cx="0" cy="384048"/>
          </a:xfrm>
          <a:prstGeom prst="line">
            <a:avLst/>
          </a:prstGeom>
          <a:noFill/>
          <a:ln w="12700">
            <a:solidFill>
              <a:srgbClr val="0F9D58">
                <a:alpha val="50000"/>
              </a:srgbClr>
            </a:solidFill>
            <a:prstDash val="sysDot"/>
          </a:ln>
        </p:spPr>
      </p:sp>
      <p:sp>
        <p:nvSpPr>
          <p:cNvPr id="42" name="Shape 40"/>
          <p:cNvSpPr/>
          <p:nvPr/>
        </p:nvSpPr>
        <p:spPr>
          <a:xfrm>
            <a:off x="3282696" y="3328416"/>
            <a:ext cx="274320" cy="274320"/>
          </a:xfrm>
          <a:prstGeom prst="ellipse">
            <a:avLst/>
          </a:prstGeom>
          <a:solidFill>
            <a:srgbClr val="0F9D58">
              <a:alpha val="80000"/>
            </a:srgbClr>
          </a:solidFill>
          <a:ln/>
        </p:spPr>
      </p:sp>
      <p:sp>
        <p:nvSpPr>
          <p:cNvPr id="43" name="Text 41"/>
          <p:cNvSpPr/>
          <p:nvPr/>
        </p:nvSpPr>
        <p:spPr>
          <a:xfrm>
            <a:off x="3282696" y="3328416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</a:rPr>
              <a:t>4</a:t>
            </a:r>
            <a:endParaRPr lang="en-US" sz="900" dirty="0"/>
          </a:p>
        </p:txBody>
      </p:sp>
      <p:sp>
        <p:nvSpPr>
          <p:cNvPr id="44" name="Text 42"/>
          <p:cNvSpPr/>
          <p:nvPr/>
        </p:nvSpPr>
        <p:spPr>
          <a:xfrm>
            <a:off x="3630168" y="3291840"/>
            <a:ext cx="226771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Content record saved in Firestore</a:t>
            </a:r>
            <a:endParaRPr lang="en-US" sz="1050" dirty="0"/>
          </a:p>
        </p:txBody>
      </p:sp>
      <p:sp>
        <p:nvSpPr>
          <p:cNvPr id="45" name="Shape 43"/>
          <p:cNvSpPr/>
          <p:nvPr/>
        </p:nvSpPr>
        <p:spPr>
          <a:xfrm>
            <a:off x="3392424" y="3602736"/>
            <a:ext cx="0" cy="384048"/>
          </a:xfrm>
          <a:prstGeom prst="line">
            <a:avLst/>
          </a:prstGeom>
          <a:noFill/>
          <a:ln w="12700">
            <a:solidFill>
              <a:srgbClr val="0F9D58">
                <a:alpha val="50000"/>
              </a:srgbClr>
            </a:solidFill>
            <a:prstDash val="sysDot"/>
          </a:ln>
        </p:spPr>
      </p:sp>
      <p:sp>
        <p:nvSpPr>
          <p:cNvPr id="46" name="Shape 44"/>
          <p:cNvSpPr/>
          <p:nvPr/>
        </p:nvSpPr>
        <p:spPr>
          <a:xfrm>
            <a:off x="3282696" y="3986784"/>
            <a:ext cx="274320" cy="274320"/>
          </a:xfrm>
          <a:prstGeom prst="ellipse">
            <a:avLst/>
          </a:prstGeom>
          <a:solidFill>
            <a:srgbClr val="0F9D58">
              <a:alpha val="80000"/>
            </a:srgbClr>
          </a:solidFill>
          <a:ln/>
        </p:spPr>
      </p:sp>
      <p:sp>
        <p:nvSpPr>
          <p:cNvPr id="47" name="Text 45"/>
          <p:cNvSpPr/>
          <p:nvPr/>
        </p:nvSpPr>
        <p:spPr>
          <a:xfrm>
            <a:off x="3282696" y="3986784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</a:rPr>
              <a:t>5</a:t>
            </a:r>
            <a:endParaRPr lang="en-US" sz="900" dirty="0"/>
          </a:p>
        </p:txBody>
      </p:sp>
      <p:sp>
        <p:nvSpPr>
          <p:cNvPr id="48" name="Text 46"/>
          <p:cNvSpPr/>
          <p:nvPr/>
        </p:nvSpPr>
        <p:spPr>
          <a:xfrm>
            <a:off x="3630168" y="3950208"/>
            <a:ext cx="226771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Nightly job picks it up automatically</a:t>
            </a:r>
            <a:endParaRPr lang="en-US" sz="1050" dirty="0"/>
          </a:p>
        </p:txBody>
      </p:sp>
      <p:sp>
        <p:nvSpPr>
          <p:cNvPr id="49" name="Shape 47"/>
          <p:cNvSpPr/>
          <p:nvPr/>
        </p:nvSpPr>
        <p:spPr>
          <a:xfrm>
            <a:off x="6163056" y="731520"/>
            <a:ext cx="2834640" cy="4251960"/>
          </a:xfrm>
          <a:prstGeom prst="rect">
            <a:avLst/>
          </a:prstGeom>
          <a:solidFill>
            <a:srgbClr val="FFFFFF"/>
          </a:solidFill>
          <a:ln w="2540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8000"/>
              </a:srgbClr>
            </a:outerShdw>
          </a:effectLst>
        </p:spPr>
      </p:sp>
      <p:sp>
        <p:nvSpPr>
          <p:cNvPr id="50" name="Shape 48"/>
          <p:cNvSpPr/>
          <p:nvPr/>
        </p:nvSpPr>
        <p:spPr>
          <a:xfrm>
            <a:off x="6163056" y="731520"/>
            <a:ext cx="2834640" cy="502920"/>
          </a:xfrm>
          <a:prstGeom prst="rect">
            <a:avLst/>
          </a:prstGeom>
          <a:solidFill>
            <a:srgbClr val="7C3AED"/>
          </a:solidFill>
          <a:ln/>
        </p:spPr>
      </p:sp>
      <p:sp>
        <p:nvSpPr>
          <p:cNvPr id="51" name="Text 49"/>
          <p:cNvSpPr/>
          <p:nvPr/>
        </p:nvSpPr>
        <p:spPr>
          <a:xfrm>
            <a:off x="6254496" y="731520"/>
            <a:ext cx="2651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📅  Daily Usage Loop</a:t>
            </a:r>
            <a:endParaRPr lang="en-US" sz="1100" dirty="0"/>
          </a:p>
        </p:txBody>
      </p:sp>
      <p:sp>
        <p:nvSpPr>
          <p:cNvPr id="52" name="Shape 50"/>
          <p:cNvSpPr/>
          <p:nvPr/>
        </p:nvSpPr>
        <p:spPr>
          <a:xfrm>
            <a:off x="6272784" y="1353312"/>
            <a:ext cx="274320" cy="274320"/>
          </a:xfrm>
          <a:prstGeom prst="ellipse">
            <a:avLst/>
          </a:prstGeom>
          <a:solidFill>
            <a:srgbClr val="7C3AED">
              <a:alpha val="80000"/>
            </a:srgbClr>
          </a:solidFill>
          <a:ln/>
        </p:spPr>
      </p:sp>
      <p:sp>
        <p:nvSpPr>
          <p:cNvPr id="53" name="Text 51"/>
          <p:cNvSpPr/>
          <p:nvPr/>
        </p:nvSpPr>
        <p:spPr>
          <a:xfrm>
            <a:off x="6272784" y="1353312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</a:rPr>
              <a:t>1</a:t>
            </a:r>
            <a:endParaRPr lang="en-US" sz="900" dirty="0"/>
          </a:p>
        </p:txBody>
      </p:sp>
      <p:sp>
        <p:nvSpPr>
          <p:cNvPr id="54" name="Text 52"/>
          <p:cNvSpPr/>
          <p:nvPr/>
        </p:nvSpPr>
        <p:spPr>
          <a:xfrm>
            <a:off x="6620256" y="1316736"/>
            <a:ext cx="226771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Employee opens app → check Firestore cache</a:t>
            </a:r>
            <a:endParaRPr lang="en-US" sz="1050" dirty="0"/>
          </a:p>
        </p:txBody>
      </p:sp>
      <p:sp>
        <p:nvSpPr>
          <p:cNvPr id="55" name="Shape 53"/>
          <p:cNvSpPr/>
          <p:nvPr/>
        </p:nvSpPr>
        <p:spPr>
          <a:xfrm>
            <a:off x="6382512" y="1627632"/>
            <a:ext cx="0" cy="384048"/>
          </a:xfrm>
          <a:prstGeom prst="line">
            <a:avLst/>
          </a:prstGeom>
          <a:noFill/>
          <a:ln w="12700">
            <a:solidFill>
              <a:srgbClr val="7C3AED">
                <a:alpha val="50000"/>
              </a:srgbClr>
            </a:solidFill>
            <a:prstDash val="sysDot"/>
          </a:ln>
        </p:spPr>
      </p:sp>
      <p:sp>
        <p:nvSpPr>
          <p:cNvPr id="56" name="Shape 54"/>
          <p:cNvSpPr/>
          <p:nvPr/>
        </p:nvSpPr>
        <p:spPr>
          <a:xfrm>
            <a:off x="6272784" y="2011680"/>
            <a:ext cx="274320" cy="274320"/>
          </a:xfrm>
          <a:prstGeom prst="ellipse">
            <a:avLst/>
          </a:prstGeom>
          <a:solidFill>
            <a:srgbClr val="7C3AED">
              <a:alpha val="80000"/>
            </a:srgbClr>
          </a:solidFill>
          <a:ln/>
        </p:spPr>
      </p:sp>
      <p:sp>
        <p:nvSpPr>
          <p:cNvPr id="57" name="Text 55"/>
          <p:cNvSpPr/>
          <p:nvPr/>
        </p:nvSpPr>
        <p:spPr>
          <a:xfrm>
            <a:off x="6272784" y="201168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</a:rPr>
              <a:t>2</a:t>
            </a:r>
            <a:endParaRPr lang="en-US" sz="900" dirty="0"/>
          </a:p>
        </p:txBody>
      </p:sp>
      <p:sp>
        <p:nvSpPr>
          <p:cNvPr id="58" name="Text 56"/>
          <p:cNvSpPr/>
          <p:nvPr/>
        </p:nvSpPr>
        <p:spPr>
          <a:xfrm>
            <a:off x="6620256" y="1975104"/>
            <a:ext cx="226771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If fresh → return instantly (no AI called)</a:t>
            </a:r>
            <a:endParaRPr lang="en-US" sz="1050" dirty="0"/>
          </a:p>
        </p:txBody>
      </p:sp>
      <p:sp>
        <p:nvSpPr>
          <p:cNvPr id="59" name="Shape 57"/>
          <p:cNvSpPr/>
          <p:nvPr/>
        </p:nvSpPr>
        <p:spPr>
          <a:xfrm>
            <a:off x="6382512" y="2286000"/>
            <a:ext cx="0" cy="384048"/>
          </a:xfrm>
          <a:prstGeom prst="line">
            <a:avLst/>
          </a:prstGeom>
          <a:noFill/>
          <a:ln w="12700">
            <a:solidFill>
              <a:srgbClr val="7C3AED">
                <a:alpha val="50000"/>
              </a:srgbClr>
            </a:solidFill>
            <a:prstDash val="sysDot"/>
          </a:ln>
        </p:spPr>
      </p:sp>
      <p:sp>
        <p:nvSpPr>
          <p:cNvPr id="60" name="Shape 58"/>
          <p:cNvSpPr/>
          <p:nvPr/>
        </p:nvSpPr>
        <p:spPr>
          <a:xfrm>
            <a:off x="6272784" y="2670048"/>
            <a:ext cx="274320" cy="274320"/>
          </a:xfrm>
          <a:prstGeom prst="ellipse">
            <a:avLst/>
          </a:prstGeom>
          <a:solidFill>
            <a:srgbClr val="7C3AED">
              <a:alpha val="80000"/>
            </a:srgbClr>
          </a:solidFill>
          <a:ln/>
        </p:spPr>
      </p:sp>
      <p:sp>
        <p:nvSpPr>
          <p:cNvPr id="61" name="Text 59"/>
          <p:cNvSpPr/>
          <p:nvPr/>
        </p:nvSpPr>
        <p:spPr>
          <a:xfrm>
            <a:off x="6272784" y="267004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</a:rPr>
              <a:t>3</a:t>
            </a:r>
            <a:endParaRPr lang="en-US" sz="900" dirty="0"/>
          </a:p>
        </p:txBody>
      </p:sp>
      <p:sp>
        <p:nvSpPr>
          <p:cNvPr id="62" name="Text 60"/>
          <p:cNvSpPr/>
          <p:nvPr/>
        </p:nvSpPr>
        <p:spPr>
          <a:xfrm>
            <a:off x="6620256" y="2633472"/>
            <a:ext cx="226771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Employee interacts: thumbs, saves, shares</a:t>
            </a:r>
            <a:endParaRPr lang="en-US" sz="1050" dirty="0"/>
          </a:p>
        </p:txBody>
      </p:sp>
      <p:sp>
        <p:nvSpPr>
          <p:cNvPr id="63" name="Shape 61"/>
          <p:cNvSpPr/>
          <p:nvPr/>
        </p:nvSpPr>
        <p:spPr>
          <a:xfrm>
            <a:off x="6382512" y="2944368"/>
            <a:ext cx="0" cy="384048"/>
          </a:xfrm>
          <a:prstGeom prst="line">
            <a:avLst/>
          </a:prstGeom>
          <a:noFill/>
          <a:ln w="12700">
            <a:solidFill>
              <a:srgbClr val="7C3AED">
                <a:alpha val="50000"/>
              </a:srgbClr>
            </a:solidFill>
            <a:prstDash val="sysDot"/>
          </a:ln>
        </p:spPr>
      </p:sp>
      <p:sp>
        <p:nvSpPr>
          <p:cNvPr id="64" name="Shape 62"/>
          <p:cNvSpPr/>
          <p:nvPr/>
        </p:nvSpPr>
        <p:spPr>
          <a:xfrm>
            <a:off x="6272784" y="3328416"/>
            <a:ext cx="274320" cy="274320"/>
          </a:xfrm>
          <a:prstGeom prst="ellipse">
            <a:avLst/>
          </a:prstGeom>
          <a:solidFill>
            <a:srgbClr val="7C3AED">
              <a:alpha val="80000"/>
            </a:srgbClr>
          </a:solidFill>
          <a:ln/>
        </p:spPr>
      </p:sp>
      <p:sp>
        <p:nvSpPr>
          <p:cNvPr id="65" name="Text 63"/>
          <p:cNvSpPr/>
          <p:nvPr/>
        </p:nvSpPr>
        <p:spPr>
          <a:xfrm>
            <a:off x="6272784" y="3328416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</a:rPr>
              <a:t>4</a:t>
            </a:r>
            <a:endParaRPr lang="en-US" sz="900" dirty="0"/>
          </a:p>
        </p:txBody>
      </p:sp>
      <p:sp>
        <p:nvSpPr>
          <p:cNvPr id="66" name="Text 64"/>
          <p:cNvSpPr/>
          <p:nvPr/>
        </p:nvSpPr>
        <p:spPr>
          <a:xfrm>
            <a:off x="6620256" y="3291840"/>
            <a:ext cx="226771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Signals written to Firestore</a:t>
            </a:r>
            <a:endParaRPr lang="en-US" sz="1050" dirty="0"/>
          </a:p>
        </p:txBody>
      </p:sp>
      <p:sp>
        <p:nvSpPr>
          <p:cNvPr id="67" name="Shape 65"/>
          <p:cNvSpPr/>
          <p:nvPr/>
        </p:nvSpPr>
        <p:spPr>
          <a:xfrm>
            <a:off x="6382512" y="3602736"/>
            <a:ext cx="0" cy="384048"/>
          </a:xfrm>
          <a:prstGeom prst="line">
            <a:avLst/>
          </a:prstGeom>
          <a:noFill/>
          <a:ln w="12700">
            <a:solidFill>
              <a:srgbClr val="7C3AED">
                <a:alpha val="50000"/>
              </a:srgbClr>
            </a:solidFill>
            <a:prstDash val="sysDot"/>
          </a:ln>
        </p:spPr>
      </p:sp>
      <p:sp>
        <p:nvSpPr>
          <p:cNvPr id="68" name="Shape 66"/>
          <p:cNvSpPr/>
          <p:nvPr/>
        </p:nvSpPr>
        <p:spPr>
          <a:xfrm>
            <a:off x="6272784" y="3986784"/>
            <a:ext cx="274320" cy="274320"/>
          </a:xfrm>
          <a:prstGeom prst="ellipse">
            <a:avLst/>
          </a:prstGeom>
          <a:solidFill>
            <a:srgbClr val="7C3AED">
              <a:alpha val="80000"/>
            </a:srgbClr>
          </a:solidFill>
          <a:ln/>
        </p:spPr>
      </p:sp>
      <p:sp>
        <p:nvSpPr>
          <p:cNvPr id="69" name="Text 67"/>
          <p:cNvSpPr/>
          <p:nvPr/>
        </p:nvSpPr>
        <p:spPr>
          <a:xfrm>
            <a:off x="6272784" y="3986784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</a:rPr>
              <a:t>5</a:t>
            </a:r>
            <a:endParaRPr lang="en-US" sz="900" dirty="0"/>
          </a:p>
        </p:txBody>
      </p:sp>
      <p:sp>
        <p:nvSpPr>
          <p:cNvPr id="70" name="Text 68"/>
          <p:cNvSpPr/>
          <p:nvPr/>
        </p:nvSpPr>
        <p:spPr>
          <a:xfrm>
            <a:off x="6620256" y="3950208"/>
            <a:ext cx="226771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Nightly job reads signals → updates recs</a:t>
            </a:r>
            <a:endParaRPr lang="en-US" sz="10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D11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94360"/>
          </a:xfrm>
          <a:prstGeom prst="rect">
            <a:avLst/>
          </a:prstGeom>
          <a:solidFill>
            <a:srgbClr val="161B22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0"/>
            <a:ext cx="84124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FFFFFF"/>
                </a:solidFill>
              </a:rPr>
              <a:t>STATE CONTROL  &amp;  COST MANAGEMENT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274320" y="777240"/>
            <a:ext cx="4114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4B4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🔒  How We Maintain Control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274320" y="1280160"/>
            <a:ext cx="4114800" cy="548640"/>
          </a:xfrm>
          <a:prstGeom prst="rect">
            <a:avLst/>
          </a:prstGeom>
          <a:solidFill>
            <a:srgbClr val="F4B400">
              <a:alpha val="10000"/>
            </a:srgbClr>
          </a:solidFill>
          <a:ln w="12700">
            <a:solidFill>
              <a:srgbClr val="F4B400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320040" y="1316736"/>
            <a:ext cx="411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000000"/>
                </a:solidFill>
              </a:rPr>
              <a:t>01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777240" y="1325880"/>
            <a:ext cx="35204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E5E7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recommendations stored as readable Firestore records — inspectable &amp; auditable any time</a:t>
            </a:r>
            <a:endParaRPr lang="en-US" sz="1050" dirty="0"/>
          </a:p>
        </p:txBody>
      </p:sp>
      <p:sp>
        <p:nvSpPr>
          <p:cNvPr id="8" name="Shape 6"/>
          <p:cNvSpPr/>
          <p:nvPr/>
        </p:nvSpPr>
        <p:spPr>
          <a:xfrm>
            <a:off x="274320" y="1938528"/>
            <a:ext cx="4114800" cy="548640"/>
          </a:xfrm>
          <a:prstGeom prst="rect">
            <a:avLst/>
          </a:prstGeom>
          <a:solidFill>
            <a:srgbClr val="F4B400">
              <a:alpha val="10000"/>
            </a:srgbClr>
          </a:solidFill>
          <a:ln w="12700">
            <a:solidFill>
              <a:srgbClr val="F4B40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320040" y="1975104"/>
            <a:ext cx="411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000000"/>
                </a:solidFill>
              </a:rPr>
              <a:t>02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777240" y="1984248"/>
            <a:ext cx="35204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E5E7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Scoring formula is explicit code: 50% semantic + 30% interest + 20% seniority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274320" y="2596896"/>
            <a:ext cx="4114800" cy="548640"/>
          </a:xfrm>
          <a:prstGeom prst="rect">
            <a:avLst/>
          </a:prstGeom>
          <a:solidFill>
            <a:srgbClr val="F4B400">
              <a:alpha val="10000"/>
            </a:srgbClr>
          </a:solidFill>
          <a:ln w="12700">
            <a:solidFill>
              <a:srgbClr val="F4B40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20040" y="2633472"/>
            <a:ext cx="411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000000"/>
                </a:solidFill>
              </a:rPr>
              <a:t>03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777240" y="2642616"/>
            <a:ext cx="35204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E5E7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Admins can pin, flag, or exclude content via direct Firestore edits — no retraining needed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274320" y="3255264"/>
            <a:ext cx="4114800" cy="548640"/>
          </a:xfrm>
          <a:prstGeom prst="rect">
            <a:avLst/>
          </a:prstGeom>
          <a:solidFill>
            <a:srgbClr val="F4B400">
              <a:alpha val="10000"/>
            </a:srgbClr>
          </a:solidFill>
          <a:ln w="12700">
            <a:solidFill>
              <a:srgbClr val="F4B40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20040" y="3291840"/>
            <a:ext cx="411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000000"/>
                </a:solidFill>
              </a:rPr>
              <a:t>04</a:t>
            </a:r>
            <a:endParaRPr lang="en-US" sz="1600" dirty="0"/>
          </a:p>
        </p:txBody>
      </p:sp>
      <p:sp>
        <p:nvSpPr>
          <p:cNvPr id="16" name="Text 14"/>
          <p:cNvSpPr/>
          <p:nvPr/>
        </p:nvSpPr>
        <p:spPr>
          <a:xfrm>
            <a:off x="777240" y="3300984"/>
            <a:ext cx="35204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E5E7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Nightly batch logs what it computed and why — full audit trail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274320" y="3913632"/>
            <a:ext cx="4114800" cy="548640"/>
          </a:xfrm>
          <a:prstGeom prst="rect">
            <a:avLst/>
          </a:prstGeom>
          <a:solidFill>
            <a:srgbClr val="F4B400">
              <a:alpha val="10000"/>
            </a:srgbClr>
          </a:solidFill>
          <a:ln w="12700">
            <a:solidFill>
              <a:srgbClr val="F4B40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20040" y="3950208"/>
            <a:ext cx="411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000000"/>
                </a:solidFill>
              </a:rPr>
              <a:t>05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777240" y="3959352"/>
            <a:ext cx="35204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E5E7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user data leaves GCP — embeddings and profiles stay within one project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4663440" y="731520"/>
            <a:ext cx="0" cy="4206240"/>
          </a:xfrm>
          <a:prstGeom prst="line">
            <a:avLst/>
          </a:prstGeom>
          <a:noFill/>
          <a:ln w="12700">
            <a:solidFill>
              <a:srgbClr val="30363D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4800600" y="777240"/>
            <a:ext cx="4114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9D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💰  Monthly Cost Estimate (1K users)</a:t>
            </a:r>
            <a:endParaRPr lang="en-US" sz="1400" dirty="0"/>
          </a:p>
        </p:txBody>
      </p:sp>
      <p:sp>
        <p:nvSpPr>
          <p:cNvPr id="22" name="Shape 20"/>
          <p:cNvSpPr/>
          <p:nvPr/>
        </p:nvSpPr>
        <p:spPr>
          <a:xfrm>
            <a:off x="4800600" y="1280160"/>
            <a:ext cx="3291840" cy="457200"/>
          </a:xfrm>
          <a:prstGeom prst="rect">
            <a:avLst/>
          </a:prstGeom>
          <a:solidFill>
            <a:srgbClr val="161B22"/>
          </a:solidFill>
          <a:ln w="12700">
            <a:solidFill>
              <a:srgbClr val="30363D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4800600" y="1280160"/>
            <a:ext cx="54864" cy="457200"/>
          </a:xfrm>
          <a:prstGeom prst="rect">
            <a:avLst/>
          </a:prstGeom>
          <a:solidFill>
            <a:srgbClr val="1A73E8"/>
          </a:solidFill>
          <a:ln/>
        </p:spPr>
      </p:sp>
      <p:sp>
        <p:nvSpPr>
          <p:cNvPr id="24" name="Text 22"/>
          <p:cNvSpPr/>
          <p:nvPr/>
        </p:nvSpPr>
        <p:spPr>
          <a:xfrm>
            <a:off x="4919472" y="1316736"/>
            <a:ext cx="219456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1D5D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Firebase Hosting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7132320" y="1316736"/>
            <a:ext cx="9144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A73E8"/>
                </a:solidFill>
              </a:rPr>
              <a:t>Free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4800600" y="1810512"/>
            <a:ext cx="3291840" cy="457200"/>
          </a:xfrm>
          <a:prstGeom prst="rect">
            <a:avLst/>
          </a:prstGeom>
          <a:solidFill>
            <a:srgbClr val="161B22"/>
          </a:solidFill>
          <a:ln w="12700">
            <a:solidFill>
              <a:srgbClr val="30363D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4800600" y="1810512"/>
            <a:ext cx="54864" cy="457200"/>
          </a:xfrm>
          <a:prstGeom prst="rect">
            <a:avLst/>
          </a:prstGeom>
          <a:solidFill>
            <a:srgbClr val="0F9D58"/>
          </a:solidFill>
          <a:ln/>
        </p:spPr>
      </p:sp>
      <p:sp>
        <p:nvSpPr>
          <p:cNvPr id="28" name="Text 26"/>
          <p:cNvSpPr/>
          <p:nvPr/>
        </p:nvSpPr>
        <p:spPr>
          <a:xfrm>
            <a:off x="4919472" y="1847088"/>
            <a:ext cx="219456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1D5D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Cloud Run (API)</a:t>
            </a:r>
            <a:endParaRPr lang="en-US" sz="1100" dirty="0"/>
          </a:p>
        </p:txBody>
      </p:sp>
      <p:sp>
        <p:nvSpPr>
          <p:cNvPr id="29" name="Text 27"/>
          <p:cNvSpPr/>
          <p:nvPr/>
        </p:nvSpPr>
        <p:spPr>
          <a:xfrm>
            <a:off x="7132320" y="1847088"/>
            <a:ext cx="9144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0F9D58"/>
                </a:solidFill>
              </a:rPr>
              <a:t>$2 – $5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4800600" y="2340864"/>
            <a:ext cx="3291840" cy="457200"/>
          </a:xfrm>
          <a:prstGeom prst="rect">
            <a:avLst/>
          </a:prstGeom>
          <a:solidFill>
            <a:srgbClr val="161B22"/>
          </a:solidFill>
          <a:ln w="12700">
            <a:solidFill>
              <a:srgbClr val="30363D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4800600" y="2340864"/>
            <a:ext cx="54864" cy="457200"/>
          </a:xfrm>
          <a:prstGeom prst="rect">
            <a:avLst/>
          </a:prstGeom>
          <a:solidFill>
            <a:srgbClr val="0F9D58"/>
          </a:solidFill>
          <a:ln/>
        </p:spPr>
      </p:sp>
      <p:sp>
        <p:nvSpPr>
          <p:cNvPr id="32" name="Text 30"/>
          <p:cNvSpPr/>
          <p:nvPr/>
        </p:nvSpPr>
        <p:spPr>
          <a:xfrm>
            <a:off x="4919472" y="2377440"/>
            <a:ext cx="219456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1D5D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Firestore</a:t>
            </a:r>
            <a:endParaRPr lang="en-US" sz="1100" dirty="0"/>
          </a:p>
        </p:txBody>
      </p:sp>
      <p:sp>
        <p:nvSpPr>
          <p:cNvPr id="33" name="Text 31"/>
          <p:cNvSpPr/>
          <p:nvPr/>
        </p:nvSpPr>
        <p:spPr>
          <a:xfrm>
            <a:off x="7132320" y="2377440"/>
            <a:ext cx="9144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0F9D58"/>
                </a:solidFill>
              </a:rPr>
              <a:t>Free tier</a:t>
            </a:r>
            <a:endParaRPr lang="en-US" sz="1100" dirty="0"/>
          </a:p>
        </p:txBody>
      </p:sp>
      <p:sp>
        <p:nvSpPr>
          <p:cNvPr id="34" name="Shape 32"/>
          <p:cNvSpPr/>
          <p:nvPr/>
        </p:nvSpPr>
        <p:spPr>
          <a:xfrm>
            <a:off x="4800600" y="2871216"/>
            <a:ext cx="3291840" cy="457200"/>
          </a:xfrm>
          <a:prstGeom prst="rect">
            <a:avLst/>
          </a:prstGeom>
          <a:solidFill>
            <a:srgbClr val="161B22"/>
          </a:solidFill>
          <a:ln w="12700">
            <a:solidFill>
              <a:srgbClr val="30363D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4800600" y="2871216"/>
            <a:ext cx="54864" cy="457200"/>
          </a:xfrm>
          <a:prstGeom prst="rect">
            <a:avLst/>
          </a:prstGeom>
          <a:solidFill>
            <a:srgbClr val="DB4437"/>
          </a:solidFill>
          <a:ln/>
        </p:spPr>
      </p:sp>
      <p:sp>
        <p:nvSpPr>
          <p:cNvPr id="36" name="Text 34"/>
          <p:cNvSpPr/>
          <p:nvPr/>
        </p:nvSpPr>
        <p:spPr>
          <a:xfrm>
            <a:off x="4919472" y="2907792"/>
            <a:ext cx="219456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1D5D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Vertex AI Embeddings</a:t>
            </a:r>
            <a:endParaRPr lang="en-US" sz="1100" dirty="0"/>
          </a:p>
        </p:txBody>
      </p:sp>
      <p:sp>
        <p:nvSpPr>
          <p:cNvPr id="37" name="Text 35"/>
          <p:cNvSpPr/>
          <p:nvPr/>
        </p:nvSpPr>
        <p:spPr>
          <a:xfrm>
            <a:off x="7132320" y="2907792"/>
            <a:ext cx="9144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DB4437"/>
                </a:solidFill>
              </a:rPr>
              <a:t>&lt; $1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4800600" y="3401568"/>
            <a:ext cx="3291840" cy="457200"/>
          </a:xfrm>
          <a:prstGeom prst="rect">
            <a:avLst/>
          </a:prstGeom>
          <a:solidFill>
            <a:srgbClr val="161B22"/>
          </a:solidFill>
          <a:ln w="12700">
            <a:solidFill>
              <a:srgbClr val="30363D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4800600" y="3401568"/>
            <a:ext cx="54864" cy="457200"/>
          </a:xfrm>
          <a:prstGeom prst="rect">
            <a:avLst/>
          </a:prstGeom>
          <a:solidFill>
            <a:srgbClr val="DB4437"/>
          </a:solidFill>
          <a:ln/>
        </p:spPr>
      </p:sp>
      <p:sp>
        <p:nvSpPr>
          <p:cNvPr id="40" name="Text 38"/>
          <p:cNvSpPr/>
          <p:nvPr/>
        </p:nvSpPr>
        <p:spPr>
          <a:xfrm>
            <a:off x="4919472" y="3438144"/>
            <a:ext cx="219456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1D5D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Vertex AI Vector Search</a:t>
            </a:r>
            <a:endParaRPr lang="en-US" sz="1100" dirty="0"/>
          </a:p>
        </p:txBody>
      </p:sp>
      <p:sp>
        <p:nvSpPr>
          <p:cNvPr id="41" name="Text 39"/>
          <p:cNvSpPr/>
          <p:nvPr/>
        </p:nvSpPr>
        <p:spPr>
          <a:xfrm>
            <a:off x="7132320" y="3438144"/>
            <a:ext cx="9144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DB4437"/>
                </a:solidFill>
              </a:rPr>
              <a:t>$5 – $10</a:t>
            </a:r>
            <a:endParaRPr lang="en-US" sz="1100" dirty="0"/>
          </a:p>
        </p:txBody>
      </p:sp>
      <p:sp>
        <p:nvSpPr>
          <p:cNvPr id="42" name="Shape 40"/>
          <p:cNvSpPr/>
          <p:nvPr/>
        </p:nvSpPr>
        <p:spPr>
          <a:xfrm>
            <a:off x="4800600" y="3931920"/>
            <a:ext cx="3291840" cy="457200"/>
          </a:xfrm>
          <a:prstGeom prst="rect">
            <a:avLst/>
          </a:prstGeom>
          <a:solidFill>
            <a:srgbClr val="161B22"/>
          </a:solidFill>
          <a:ln w="12700">
            <a:solidFill>
              <a:srgbClr val="30363D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4800600" y="3931920"/>
            <a:ext cx="54864" cy="457200"/>
          </a:xfrm>
          <a:prstGeom prst="rect">
            <a:avLst/>
          </a:prstGeom>
          <a:solidFill>
            <a:srgbClr val="7C3AED"/>
          </a:solidFill>
          <a:ln/>
        </p:spPr>
      </p:sp>
      <p:sp>
        <p:nvSpPr>
          <p:cNvPr id="44" name="Text 42"/>
          <p:cNvSpPr/>
          <p:nvPr/>
        </p:nvSpPr>
        <p:spPr>
          <a:xfrm>
            <a:off x="4919472" y="3968496"/>
            <a:ext cx="219456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1D5D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Cloud Scheduler/Fn</a:t>
            </a:r>
            <a:endParaRPr lang="en-US" sz="1100" dirty="0"/>
          </a:p>
        </p:txBody>
      </p:sp>
      <p:sp>
        <p:nvSpPr>
          <p:cNvPr id="45" name="Text 43"/>
          <p:cNvSpPr/>
          <p:nvPr/>
        </p:nvSpPr>
        <p:spPr>
          <a:xfrm>
            <a:off x="7132320" y="3968496"/>
            <a:ext cx="9144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7C3AED"/>
                </a:solidFill>
              </a:rPr>
              <a:t>&lt; $1</a:t>
            </a:r>
            <a:endParaRPr lang="en-US" sz="1100" dirty="0"/>
          </a:p>
        </p:txBody>
      </p:sp>
      <p:sp>
        <p:nvSpPr>
          <p:cNvPr id="46" name="Shape 44"/>
          <p:cNvSpPr/>
          <p:nvPr/>
        </p:nvSpPr>
        <p:spPr>
          <a:xfrm>
            <a:off x="4800600" y="4480560"/>
            <a:ext cx="3291840" cy="411480"/>
          </a:xfrm>
          <a:prstGeom prst="rect">
            <a:avLst/>
          </a:prstGeom>
          <a:solidFill>
            <a:srgbClr val="0F9D58">
              <a:alpha val="20000"/>
            </a:srgbClr>
          </a:solidFill>
          <a:ln w="12700">
            <a:solidFill>
              <a:srgbClr val="0F9D58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4892040" y="4480560"/>
            <a:ext cx="2103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F9D58"/>
                </a:solidFill>
              </a:rPr>
              <a:t>Total Estimate</a:t>
            </a:r>
            <a:endParaRPr lang="en-US" sz="1200" dirty="0"/>
          </a:p>
        </p:txBody>
      </p:sp>
      <p:sp>
        <p:nvSpPr>
          <p:cNvPr id="48" name="Text 46"/>
          <p:cNvSpPr/>
          <p:nvPr/>
        </p:nvSpPr>
        <p:spPr>
          <a:xfrm>
            <a:off x="6675120" y="4480560"/>
            <a:ext cx="1371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0F9D58"/>
                </a:solidFill>
              </a:rPr>
              <a:t>$8 – $17 / month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6F8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94360"/>
          </a:xfrm>
          <a:prstGeom prst="rect">
            <a:avLst/>
          </a:prstGeom>
          <a:solidFill>
            <a:srgbClr val="1A73E8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0"/>
            <a:ext cx="84124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FFFFFF"/>
                </a:solidFill>
              </a:rPr>
              <a:t>HOW IT CONNECTS TO THE APP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365760" y="731520"/>
            <a:ext cx="84124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4B55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Three API endpoints — the app never talks directly to Vertex AI or the Vector Store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274320" y="1188720"/>
            <a:ext cx="8595360" cy="1097280"/>
          </a:xfrm>
          <a:prstGeom prst="rect">
            <a:avLst/>
          </a:prstGeom>
          <a:solidFill>
            <a:srgbClr val="FFFFFF"/>
          </a:solidFill>
          <a:ln w="25400">
            <a:solidFill>
              <a:srgbClr val="0F9D5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8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274320" y="1188720"/>
            <a:ext cx="64008" cy="1097280"/>
          </a:xfrm>
          <a:prstGeom prst="rect">
            <a:avLst/>
          </a:prstGeom>
          <a:solidFill>
            <a:srgbClr val="0F9D58"/>
          </a:solidFill>
          <a:ln/>
        </p:spPr>
      </p:sp>
      <p:sp>
        <p:nvSpPr>
          <p:cNvPr id="7" name="Shape 5"/>
          <p:cNvSpPr/>
          <p:nvPr/>
        </p:nvSpPr>
        <p:spPr>
          <a:xfrm>
            <a:off x="457200" y="1371600"/>
            <a:ext cx="685800" cy="292608"/>
          </a:xfrm>
          <a:prstGeom prst="rect">
            <a:avLst/>
          </a:prstGeom>
          <a:solidFill>
            <a:srgbClr val="0F9D58"/>
          </a:solidFill>
          <a:ln/>
        </p:spPr>
      </p:sp>
      <p:sp>
        <p:nvSpPr>
          <p:cNvPr id="8" name="Text 6"/>
          <p:cNvSpPr/>
          <p:nvPr/>
        </p:nvSpPr>
        <p:spPr>
          <a:xfrm>
            <a:off x="457200" y="1371600"/>
            <a:ext cx="685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GET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1234440" y="1353312"/>
            <a:ext cx="457200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/recommendations/{employeeId}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5943600" y="1353312"/>
            <a:ext cx="274320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0F9D58"/>
                </a:solidFill>
              </a:rPr>
              <a:t>Every time employee opens the app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457200" y="1755648"/>
            <a:ext cx="822960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B55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Primary call on every app load. Returns the pre-cached ranked content list from Firestore. Fast — no AI computation at request time.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274320" y="2423160"/>
            <a:ext cx="8595360" cy="1097280"/>
          </a:xfrm>
          <a:prstGeom prst="rect">
            <a:avLst/>
          </a:prstGeom>
          <a:solidFill>
            <a:srgbClr val="FFFFFF"/>
          </a:solidFill>
          <a:ln w="25400">
            <a:solidFill>
              <a:srgbClr val="1A73E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8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274320" y="2423160"/>
            <a:ext cx="64008" cy="1097280"/>
          </a:xfrm>
          <a:prstGeom prst="rect">
            <a:avLst/>
          </a:prstGeom>
          <a:solidFill>
            <a:srgbClr val="1A73E8"/>
          </a:solidFill>
          <a:ln/>
        </p:spPr>
      </p:sp>
      <p:sp>
        <p:nvSpPr>
          <p:cNvPr id="14" name="Shape 12"/>
          <p:cNvSpPr/>
          <p:nvPr/>
        </p:nvSpPr>
        <p:spPr>
          <a:xfrm>
            <a:off x="457200" y="2606040"/>
            <a:ext cx="685800" cy="292608"/>
          </a:xfrm>
          <a:prstGeom prst="rect">
            <a:avLst/>
          </a:prstGeom>
          <a:solidFill>
            <a:srgbClr val="1A73E8"/>
          </a:solidFill>
          <a:ln/>
        </p:spPr>
      </p:sp>
      <p:sp>
        <p:nvSpPr>
          <p:cNvPr id="15" name="Text 13"/>
          <p:cNvSpPr/>
          <p:nvPr/>
        </p:nvSpPr>
        <p:spPr>
          <a:xfrm>
            <a:off x="457200" y="2606040"/>
            <a:ext cx="685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POST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1234440" y="2587752"/>
            <a:ext cx="457200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/feedback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5943600" y="2587752"/>
            <a:ext cx="274320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1A73E8"/>
                </a:solidFill>
              </a:rPr>
              <a:t>When employee interacts with content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457200" y="2990088"/>
            <a:ext cx="822960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B55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Receives engagement signals from the app: thumbs up/down, saves, shares. Written to Firestore for the nightly feedback loop.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274320" y="3657600"/>
            <a:ext cx="8595360" cy="1097280"/>
          </a:xfrm>
          <a:prstGeom prst="rect">
            <a:avLst/>
          </a:prstGeom>
          <a:solidFill>
            <a:srgbClr val="FFFFFF"/>
          </a:solidFill>
          <a:ln w="2540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8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274320" y="3657600"/>
            <a:ext cx="64008" cy="1097280"/>
          </a:xfrm>
          <a:prstGeom prst="rect">
            <a:avLst/>
          </a:prstGeom>
          <a:solidFill>
            <a:srgbClr val="7C3AED"/>
          </a:solidFill>
          <a:ln/>
        </p:spPr>
      </p:sp>
      <p:sp>
        <p:nvSpPr>
          <p:cNvPr id="21" name="Shape 19"/>
          <p:cNvSpPr/>
          <p:nvPr/>
        </p:nvSpPr>
        <p:spPr>
          <a:xfrm>
            <a:off x="457200" y="3840480"/>
            <a:ext cx="685800" cy="292608"/>
          </a:xfrm>
          <a:prstGeom prst="rect">
            <a:avLst/>
          </a:prstGeom>
          <a:solidFill>
            <a:srgbClr val="7C3AED"/>
          </a:solidFill>
          <a:ln/>
        </p:spPr>
      </p:sp>
      <p:sp>
        <p:nvSpPr>
          <p:cNvPr id="22" name="Text 20"/>
          <p:cNvSpPr/>
          <p:nvPr/>
        </p:nvSpPr>
        <p:spPr>
          <a:xfrm>
            <a:off x="457200" y="3840480"/>
            <a:ext cx="685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POST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1234440" y="3822192"/>
            <a:ext cx="457200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/onboard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5943600" y="3822192"/>
            <a:ext cx="274320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7C3AED"/>
                </a:solidFill>
              </a:rPr>
              <a:t>Once, on first-time setup</a:t>
            </a:r>
            <a:endParaRPr lang="en-US" sz="1000" dirty="0"/>
          </a:p>
        </p:txBody>
      </p:sp>
      <p:sp>
        <p:nvSpPr>
          <p:cNvPr id="25" name="Text 23"/>
          <p:cNvSpPr/>
          <p:nvPr/>
        </p:nvSpPr>
        <p:spPr>
          <a:xfrm>
            <a:off x="457200" y="4224528"/>
            <a:ext cx="822960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B55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Called after onboarding quiz. Triggers on-demand recommendation computation for the new employee. Cold start solved.</a:t>
            </a:r>
            <a:endParaRPr lang="en-US" sz="11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D11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94360"/>
          </a:xfrm>
          <a:prstGeom prst="rect">
            <a:avLst/>
          </a:prstGeom>
          <a:solidFill>
            <a:srgbClr val="161B22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0"/>
            <a:ext cx="84124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FFFFFF"/>
                </a:solidFill>
              </a:rPr>
              <a:t>BUILD ROADMAP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365760" y="0"/>
            <a:ext cx="84124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8B949E"/>
                </a:solidFill>
              </a:rPr>
              <a:t>6 phases from data setup to live integration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228600" y="822960"/>
            <a:ext cx="2788920" cy="1828800"/>
          </a:xfrm>
          <a:prstGeom prst="rect">
            <a:avLst/>
          </a:prstGeom>
          <a:solidFill>
            <a:srgbClr val="161B22"/>
          </a:solidFill>
          <a:ln w="25400">
            <a:solidFill>
              <a:srgbClr val="1A73E8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228600" y="822960"/>
            <a:ext cx="2788920" cy="502920"/>
          </a:xfrm>
          <a:prstGeom prst="rect">
            <a:avLst/>
          </a:prstGeom>
          <a:solidFill>
            <a:srgbClr val="1A73E8"/>
          </a:solidFill>
          <a:ln/>
        </p:spPr>
      </p:sp>
      <p:sp>
        <p:nvSpPr>
          <p:cNvPr id="7" name="Text 5"/>
          <p:cNvSpPr/>
          <p:nvPr/>
        </p:nvSpPr>
        <p:spPr>
          <a:xfrm>
            <a:off x="338328" y="896112"/>
            <a:ext cx="10972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FFFFFF"/>
                </a:solidFill>
              </a:rPr>
              <a:t>PHASE 01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338328" y="1417320"/>
            <a:ext cx="2569464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Foundation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338328" y="1901952"/>
            <a:ext cx="2569464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 up Firestore schema, seed 1,000 employee records and 169 content items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3172968" y="822960"/>
            <a:ext cx="2788920" cy="1828800"/>
          </a:xfrm>
          <a:prstGeom prst="rect">
            <a:avLst/>
          </a:prstGeom>
          <a:solidFill>
            <a:srgbClr val="161B22"/>
          </a:solidFill>
          <a:ln w="25400">
            <a:solidFill>
              <a:srgbClr val="0F9D58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3172968" y="822960"/>
            <a:ext cx="2788920" cy="502920"/>
          </a:xfrm>
          <a:prstGeom prst="rect">
            <a:avLst/>
          </a:prstGeom>
          <a:solidFill>
            <a:srgbClr val="0F9D58"/>
          </a:solidFill>
          <a:ln/>
        </p:spPr>
      </p:sp>
      <p:sp>
        <p:nvSpPr>
          <p:cNvPr id="12" name="Text 10"/>
          <p:cNvSpPr/>
          <p:nvPr/>
        </p:nvSpPr>
        <p:spPr>
          <a:xfrm>
            <a:off x="3282696" y="896112"/>
            <a:ext cx="10972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FFFFFF"/>
                </a:solidFill>
              </a:rPr>
              <a:t>PHASE 02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3282696" y="1417320"/>
            <a:ext cx="2569464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Engine + Embeddings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3282696" y="1901952"/>
            <a:ext cx="2569464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Deploy Rec Engine on Cloud Run, wire up Vertex AI text-embedding-gecko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6117336" y="822960"/>
            <a:ext cx="2788920" cy="1828800"/>
          </a:xfrm>
          <a:prstGeom prst="rect">
            <a:avLst/>
          </a:prstGeom>
          <a:solidFill>
            <a:srgbClr val="161B22"/>
          </a:solidFill>
          <a:ln w="25400">
            <a:solidFill>
              <a:srgbClr val="DB4437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6117336" y="822960"/>
            <a:ext cx="2788920" cy="502920"/>
          </a:xfrm>
          <a:prstGeom prst="rect">
            <a:avLst/>
          </a:prstGeom>
          <a:solidFill>
            <a:srgbClr val="DB4437"/>
          </a:solidFill>
          <a:ln/>
        </p:spPr>
      </p:sp>
      <p:sp>
        <p:nvSpPr>
          <p:cNvPr id="17" name="Text 15"/>
          <p:cNvSpPr/>
          <p:nvPr/>
        </p:nvSpPr>
        <p:spPr>
          <a:xfrm>
            <a:off x="6227064" y="896112"/>
            <a:ext cx="10972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FFFFFF"/>
                </a:solidFill>
              </a:rPr>
              <a:t>PHASE 03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6227064" y="1417320"/>
            <a:ext cx="2569464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Vector Search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6227064" y="1901952"/>
            <a:ext cx="2569464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 up Vertex AI Vector Search index, test cosine similarity queries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228600" y="2852928"/>
            <a:ext cx="2788920" cy="1828800"/>
          </a:xfrm>
          <a:prstGeom prst="rect">
            <a:avLst/>
          </a:prstGeom>
          <a:solidFill>
            <a:srgbClr val="161B22"/>
          </a:solidFill>
          <a:ln w="25400">
            <a:solidFill>
              <a:srgbClr val="7C3AED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228600" y="2852928"/>
            <a:ext cx="2788920" cy="502920"/>
          </a:xfrm>
          <a:prstGeom prst="rect">
            <a:avLst/>
          </a:prstGeom>
          <a:solidFill>
            <a:srgbClr val="7C3AED"/>
          </a:solidFill>
          <a:ln/>
        </p:spPr>
      </p:sp>
      <p:sp>
        <p:nvSpPr>
          <p:cNvPr id="22" name="Text 20"/>
          <p:cNvSpPr/>
          <p:nvPr/>
        </p:nvSpPr>
        <p:spPr>
          <a:xfrm>
            <a:off x="338328" y="2926080"/>
            <a:ext cx="10972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FFFFFF"/>
                </a:solidFill>
              </a:rPr>
              <a:t>PHASE 04</a:t>
            </a:r>
            <a:endParaRPr lang="en-US" sz="1000" dirty="0"/>
          </a:p>
        </p:txBody>
      </p:sp>
      <p:sp>
        <p:nvSpPr>
          <p:cNvPr id="23" name="Text 21"/>
          <p:cNvSpPr/>
          <p:nvPr/>
        </p:nvSpPr>
        <p:spPr>
          <a:xfrm>
            <a:off x="338328" y="3447288"/>
            <a:ext cx="2569464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Nightly Batch Job</a:t>
            </a:r>
            <a:endParaRPr lang="en-US" sz="1400" dirty="0"/>
          </a:p>
        </p:txBody>
      </p:sp>
      <p:sp>
        <p:nvSpPr>
          <p:cNvPr id="24" name="Text 22"/>
          <p:cNvSpPr/>
          <p:nvPr/>
        </p:nvSpPr>
        <p:spPr>
          <a:xfrm>
            <a:off x="338328" y="3931920"/>
            <a:ext cx="2569464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 Cloud Scheduler + Cloud Function pipeline for pre-compute</a:t>
            </a:r>
            <a:endParaRPr lang="en-US" sz="1050" dirty="0"/>
          </a:p>
        </p:txBody>
      </p:sp>
      <p:sp>
        <p:nvSpPr>
          <p:cNvPr id="25" name="Shape 23"/>
          <p:cNvSpPr/>
          <p:nvPr/>
        </p:nvSpPr>
        <p:spPr>
          <a:xfrm>
            <a:off x="3172968" y="2852928"/>
            <a:ext cx="2788920" cy="1828800"/>
          </a:xfrm>
          <a:prstGeom prst="rect">
            <a:avLst/>
          </a:prstGeom>
          <a:solidFill>
            <a:srgbClr val="161B22"/>
          </a:solidFill>
          <a:ln w="25400">
            <a:solidFill>
              <a:srgbClr val="F4B40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3172968" y="2852928"/>
            <a:ext cx="2788920" cy="502920"/>
          </a:xfrm>
          <a:prstGeom prst="rect">
            <a:avLst/>
          </a:prstGeom>
          <a:solidFill>
            <a:srgbClr val="F4B400"/>
          </a:solidFill>
          <a:ln/>
        </p:spPr>
      </p:sp>
      <p:sp>
        <p:nvSpPr>
          <p:cNvPr id="27" name="Text 25"/>
          <p:cNvSpPr/>
          <p:nvPr/>
        </p:nvSpPr>
        <p:spPr>
          <a:xfrm>
            <a:off x="3282696" y="2926080"/>
            <a:ext cx="10972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FFFFFF"/>
                </a:solidFill>
              </a:rPr>
              <a:t>PHASE 05</a:t>
            </a:r>
            <a:endParaRPr lang="en-US" sz="1000" dirty="0"/>
          </a:p>
        </p:txBody>
      </p:sp>
      <p:sp>
        <p:nvSpPr>
          <p:cNvPr id="28" name="Text 26"/>
          <p:cNvSpPr/>
          <p:nvPr/>
        </p:nvSpPr>
        <p:spPr>
          <a:xfrm>
            <a:off x="3282696" y="3447288"/>
            <a:ext cx="2569464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Feedback Loop</a:t>
            </a:r>
            <a:endParaRPr lang="en-US" sz="1400" dirty="0"/>
          </a:p>
        </p:txBody>
      </p:sp>
      <p:sp>
        <p:nvSpPr>
          <p:cNvPr id="29" name="Text 27"/>
          <p:cNvSpPr/>
          <p:nvPr/>
        </p:nvSpPr>
        <p:spPr>
          <a:xfrm>
            <a:off x="3282696" y="3931920"/>
            <a:ext cx="2569464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Integrate signal capture endpoint, connect to nightly scoring update</a:t>
            </a:r>
            <a:endParaRPr lang="en-US" sz="1050" dirty="0"/>
          </a:p>
        </p:txBody>
      </p:sp>
      <p:sp>
        <p:nvSpPr>
          <p:cNvPr id="30" name="Shape 28"/>
          <p:cNvSpPr/>
          <p:nvPr/>
        </p:nvSpPr>
        <p:spPr>
          <a:xfrm>
            <a:off x="6117336" y="2852928"/>
            <a:ext cx="2788920" cy="1828800"/>
          </a:xfrm>
          <a:prstGeom prst="rect">
            <a:avLst/>
          </a:prstGeom>
          <a:solidFill>
            <a:srgbClr val="161B22"/>
          </a:solidFill>
          <a:ln w="25400">
            <a:solidFill>
              <a:srgbClr val="0F9D58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6117336" y="2852928"/>
            <a:ext cx="2788920" cy="502920"/>
          </a:xfrm>
          <a:prstGeom prst="rect">
            <a:avLst/>
          </a:prstGeom>
          <a:solidFill>
            <a:srgbClr val="0F9D58"/>
          </a:solidFill>
          <a:ln/>
        </p:spPr>
      </p:sp>
      <p:sp>
        <p:nvSpPr>
          <p:cNvPr id="32" name="Text 30"/>
          <p:cNvSpPr/>
          <p:nvPr/>
        </p:nvSpPr>
        <p:spPr>
          <a:xfrm>
            <a:off x="6227064" y="2926080"/>
            <a:ext cx="10972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FFFFFF"/>
                </a:solidFill>
              </a:rPr>
              <a:t>PHASE 06</a:t>
            </a:r>
            <a:endParaRPr lang="en-US" sz="1000" dirty="0"/>
          </a:p>
        </p:txBody>
      </p:sp>
      <p:sp>
        <p:nvSpPr>
          <p:cNvPr id="33" name="Text 31"/>
          <p:cNvSpPr/>
          <p:nvPr/>
        </p:nvSpPr>
        <p:spPr>
          <a:xfrm>
            <a:off x="6227064" y="3447288"/>
            <a:ext cx="2569464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 Integration</a:t>
            </a:r>
            <a:endParaRPr lang="en-US" sz="1400" dirty="0"/>
          </a:p>
        </p:txBody>
      </p:sp>
      <p:sp>
        <p:nvSpPr>
          <p:cNvPr id="34" name="Text 32"/>
          <p:cNvSpPr/>
          <p:nvPr/>
        </p:nvSpPr>
        <p:spPr>
          <a:xfrm>
            <a:off x="6227064" y="3931920"/>
            <a:ext cx="2569464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Connect MYQStudio frontend via 3 API Gateway endpoints on Cloud Run</a:t>
            </a:r>
            <a:endParaRPr lang="en-US" sz="10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D11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0A0F1E"/>
          </a:solidFill>
          <a:ln/>
        </p:spPr>
      </p:sp>
      <p:sp>
        <p:nvSpPr>
          <p:cNvPr id="3" name="Shape 1"/>
          <p:cNvSpPr/>
          <p:nvPr/>
        </p:nvSpPr>
        <p:spPr>
          <a:xfrm>
            <a:off x="6858000" y="-457200"/>
            <a:ext cx="3200400" cy="3200400"/>
          </a:xfrm>
          <a:prstGeom prst="ellipse">
            <a:avLst/>
          </a:prstGeom>
          <a:solidFill>
            <a:srgbClr val="1A73E8">
              <a:alpha val="8000"/>
            </a:srgbClr>
          </a:solidFill>
          <a:ln/>
        </p:spPr>
      </p:sp>
      <p:sp>
        <p:nvSpPr>
          <p:cNvPr id="4" name="Shape 2"/>
          <p:cNvSpPr/>
          <p:nvPr/>
        </p:nvSpPr>
        <p:spPr>
          <a:xfrm>
            <a:off x="-914400" y="2743200"/>
            <a:ext cx="2743200" cy="2743200"/>
          </a:xfrm>
          <a:prstGeom prst="ellipse">
            <a:avLst/>
          </a:prstGeom>
          <a:solidFill>
            <a:srgbClr val="0F9D58">
              <a:alpha val="8000"/>
            </a:srgbClr>
          </a:solidFill>
          <a:ln/>
        </p:spPr>
      </p:sp>
      <p:sp>
        <p:nvSpPr>
          <p:cNvPr id="5" name="Text 3"/>
          <p:cNvSpPr/>
          <p:nvPr/>
        </p:nvSpPr>
        <p:spPr>
          <a:xfrm>
            <a:off x="548640" y="640080"/>
            <a:ext cx="80467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A73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Architecture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548640" y="1051560"/>
            <a:ext cx="804672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Summary</a:t>
            </a:r>
            <a:endParaRPr lang="en-US" sz="5200" dirty="0"/>
          </a:p>
        </p:txBody>
      </p:sp>
      <p:sp>
        <p:nvSpPr>
          <p:cNvPr id="7" name="Shape 5"/>
          <p:cNvSpPr/>
          <p:nvPr/>
        </p:nvSpPr>
        <p:spPr>
          <a:xfrm>
            <a:off x="548640" y="2286000"/>
            <a:ext cx="1920240" cy="1554480"/>
          </a:xfrm>
          <a:prstGeom prst="rect">
            <a:avLst/>
          </a:prstGeom>
          <a:solidFill>
            <a:srgbClr val="1A73E8">
              <a:alpha val="12000"/>
            </a:srgbClr>
          </a:solidFill>
          <a:ln w="12700">
            <a:solidFill>
              <a:srgbClr val="1A73E8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548640" y="2377440"/>
            <a:ext cx="19202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☁️</a:t>
            </a:r>
            <a:endParaRPr lang="en-US" sz="2200" dirty="0"/>
          </a:p>
        </p:txBody>
      </p:sp>
      <p:sp>
        <p:nvSpPr>
          <p:cNvPr id="9" name="Text 7"/>
          <p:cNvSpPr/>
          <p:nvPr/>
        </p:nvSpPr>
        <p:spPr>
          <a:xfrm>
            <a:off x="548640" y="2834640"/>
            <a:ext cx="1920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spc="100" kern="0" dirty="0">
                <a:solidFill>
                  <a:srgbClr val="1A73E8"/>
                </a:solidFill>
              </a:rPr>
              <a:t>Platform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548640" y="3127248"/>
            <a:ext cx="19202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100% GCP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2606040" y="2286000"/>
            <a:ext cx="1920240" cy="1554480"/>
          </a:xfrm>
          <a:prstGeom prst="rect">
            <a:avLst/>
          </a:prstGeom>
          <a:solidFill>
            <a:srgbClr val="0F9D58">
              <a:alpha val="12000"/>
            </a:srgbClr>
          </a:solidFill>
          <a:ln w="12700">
            <a:solidFill>
              <a:srgbClr val="0F9D58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2606040" y="2377440"/>
            <a:ext cx="19202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💸</a:t>
            </a:r>
            <a:endParaRPr lang="en-US" sz="2200" dirty="0"/>
          </a:p>
        </p:txBody>
      </p:sp>
      <p:sp>
        <p:nvSpPr>
          <p:cNvPr id="13" name="Text 11"/>
          <p:cNvSpPr/>
          <p:nvPr/>
        </p:nvSpPr>
        <p:spPr>
          <a:xfrm>
            <a:off x="2606040" y="2834640"/>
            <a:ext cx="1920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spc="100" kern="0" dirty="0">
                <a:solidFill>
                  <a:srgbClr val="0F9D58"/>
                </a:solidFill>
              </a:rPr>
              <a:t>Monthly Cost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2606040" y="3127248"/>
            <a:ext cx="19202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$8–17 / month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4663440" y="2286000"/>
            <a:ext cx="1920240" cy="1554480"/>
          </a:xfrm>
          <a:prstGeom prst="rect">
            <a:avLst/>
          </a:prstGeom>
          <a:solidFill>
            <a:srgbClr val="F4B400">
              <a:alpha val="12000"/>
            </a:srgbClr>
          </a:solidFill>
          <a:ln w="12700">
            <a:solidFill>
              <a:srgbClr val="F4B400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4663440" y="2377440"/>
            <a:ext cx="19202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📊</a:t>
            </a:r>
            <a:endParaRPr lang="en-US" sz="2200" dirty="0"/>
          </a:p>
        </p:txBody>
      </p:sp>
      <p:sp>
        <p:nvSpPr>
          <p:cNvPr id="17" name="Text 15"/>
          <p:cNvSpPr/>
          <p:nvPr/>
        </p:nvSpPr>
        <p:spPr>
          <a:xfrm>
            <a:off x="4663440" y="2834640"/>
            <a:ext cx="1920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spc="100" kern="0" dirty="0">
                <a:solidFill>
                  <a:srgbClr val="F4B400"/>
                </a:solidFill>
              </a:rPr>
              <a:t>Scale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4663440" y="3127248"/>
            <a:ext cx="19202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1,000 employees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6720840" y="2286000"/>
            <a:ext cx="1920240" cy="1554480"/>
          </a:xfrm>
          <a:prstGeom prst="rect">
            <a:avLst/>
          </a:prstGeom>
          <a:solidFill>
            <a:srgbClr val="DB4437">
              <a:alpha val="12000"/>
            </a:srgbClr>
          </a:solidFill>
          <a:ln w="12700">
            <a:solidFill>
              <a:srgbClr val="DB4437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6720840" y="2377440"/>
            <a:ext cx="19202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🔒</a:t>
            </a:r>
            <a:endParaRPr lang="en-US" sz="2200" dirty="0"/>
          </a:p>
        </p:txBody>
      </p:sp>
      <p:sp>
        <p:nvSpPr>
          <p:cNvPr id="21" name="Text 19"/>
          <p:cNvSpPr/>
          <p:nvPr/>
        </p:nvSpPr>
        <p:spPr>
          <a:xfrm>
            <a:off x="6720840" y="2834640"/>
            <a:ext cx="1920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spc="100" kern="0" dirty="0">
                <a:solidFill>
                  <a:srgbClr val="DB4437"/>
                </a:solidFill>
              </a:rPr>
              <a:t>Control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6720840" y="3127248"/>
            <a:ext cx="19202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audit trail</a:t>
            </a:r>
            <a:endParaRPr lang="en-US" sz="1300" dirty="0"/>
          </a:p>
        </p:txBody>
      </p:sp>
      <p:sp>
        <p:nvSpPr>
          <p:cNvPr id="23" name="Text 21"/>
          <p:cNvSpPr/>
          <p:nvPr/>
        </p:nvSpPr>
        <p:spPr>
          <a:xfrm>
            <a:off x="548640" y="4709160"/>
            <a:ext cx="80467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949E"/>
                </a:solidFill>
              </a:rPr>
              <a:t>Prepared by Adarsh  ·  MYQStudio  ·  Concept Stage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9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MYQStudio GCP Architecture</dc:title>
  <dc:subject>PptxGenJS Presentation</dc:subject>
  <dc:creator>Adarsh</dc:creator>
  <cp:lastModifiedBy>Adarsh</cp:lastModifiedBy>
  <cp:revision>1</cp:revision>
  <dcterms:created xsi:type="dcterms:W3CDTF">2026-04-01T20:42:19Z</dcterms:created>
  <dcterms:modified xsi:type="dcterms:W3CDTF">2026-04-01T20:42:19Z</dcterms:modified>
</cp:coreProperties>
</file>